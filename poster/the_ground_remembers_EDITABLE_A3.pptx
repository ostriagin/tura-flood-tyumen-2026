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0692000" cy="15120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jp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 paper"/>
          <p:cNvSpPr/>
          <p:nvPr/>
        </p:nvSpPr>
        <p:spPr>
          <a:xfrm>
            <a:off x="0" y="0"/>
            <a:ext cx="10692000" cy="15120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ASTHEAD — yellow field"/>
          <p:cNvSpPr/>
          <p:nvPr/>
        </p:nvSpPr>
        <p:spPr>
          <a:xfrm>
            <a:off x="0" y="0"/>
            <a:ext cx="10692000" cy="2880000"/>
          </a:xfrm>
          <a:prstGeom prst="rect">
            <a:avLst/>
          </a:prstGeom>
          <a:solidFill>
            <a:srgbClr val="FFD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eyebrow"/>
          <p:cNvSpPr txBox="1"/>
          <p:nvPr/>
        </p:nvSpPr>
        <p:spPr>
          <a:xfrm>
            <a:off x="468000" y="216000"/>
            <a:ext cx="6840000" cy="216000"/>
          </a:xfrm>
          <a:prstGeom prst="rect">
            <a:avLst/>
          </a:prstGeom>
          <a:noFill/>
        </p:spPr>
        <p:txBody>
          <a:bodyPr wrap="square" lIns="0" rIns="0" tIns="0" bIns="0">
            <a:spAutoFit/>
          </a:bodyPr>
          <a:lstStyle/>
          <a:p>
            <a:pPr algn="l">
              <a:lnSpc>
                <a:spcPct val="115000"/>
              </a:lnSpc>
            </a:pPr>
            <a:r>
              <a:rPr sz="1100" b="0">
                <a:solidFill>
                  <a:srgbClr val="6A5800"/>
                </a:solidFill>
                <a:latin typeface="Arial"/>
              </a:rPr>
              <a:t>RGS YOUNG GEOGRAPHER OF THE YEAR 2026   ·   FROM SOURCE TO SEA   ·   KS5</a:t>
            </a:r>
          </a:p>
        </p:txBody>
      </p:sp>
      <p:sp>
        <p:nvSpPr>
          <p:cNvPr id="5" name="TITLE"/>
          <p:cNvSpPr txBox="1"/>
          <p:nvPr/>
        </p:nvSpPr>
        <p:spPr>
          <a:xfrm>
            <a:off x="468000" y="446400"/>
            <a:ext cx="7200000" cy="1440000"/>
          </a:xfrm>
          <a:prstGeom prst="rect">
            <a:avLst/>
          </a:prstGeom>
          <a:noFill/>
        </p:spPr>
        <p:txBody>
          <a:bodyPr wrap="square" lIns="0" rIns="0" tIns="0" bIns="0">
            <a:spAutoFit/>
          </a:bodyPr>
          <a:lstStyle/>
          <a:p>
            <a:pPr algn="l">
              <a:lnSpc>
                <a:spcPct val="86000"/>
              </a:lnSpc>
            </a:pPr>
            <a:r>
              <a:rPr sz="6200" b="0">
                <a:solidFill>
                  <a:srgbClr val="10161C"/>
                </a:solidFill>
                <a:latin typeface="Arial Black"/>
              </a:rPr>
              <a:t>THE GROUND</a:t>
            </a:r>
          </a:p>
          <a:p>
            <a:pPr algn="l">
              <a:lnSpc>
                <a:spcPct val="86000"/>
              </a:lnSpc>
            </a:pPr>
            <a:r>
              <a:rPr sz="6200" b="0">
                <a:solidFill>
                  <a:srgbClr val="10161C"/>
                </a:solidFill>
                <a:latin typeface="Arial Black"/>
              </a:rPr>
              <a:t>REMEMBERS</a:t>
            </a:r>
          </a:p>
        </p:txBody>
      </p:sp>
      <p:sp>
        <p:nvSpPr>
          <p:cNvPr id="6" name="standfirst"/>
          <p:cNvSpPr txBox="1"/>
          <p:nvPr/>
        </p:nvSpPr>
        <p:spPr>
          <a:xfrm>
            <a:off x="468000" y="1962000"/>
            <a:ext cx="6192000" cy="792000"/>
          </a:xfrm>
          <a:prstGeom prst="rect">
            <a:avLst/>
          </a:prstGeom>
          <a:noFill/>
        </p:spPr>
        <p:txBody>
          <a:bodyPr wrap="square" lIns="0" rIns="0" tIns="0" bIns="0">
            <a:spAutoFit/>
          </a:bodyPr>
          <a:lstStyle/>
          <a:p>
            <a:pPr algn="l">
              <a:lnSpc>
                <a:spcPct val="124000"/>
              </a:lnSpc>
            </a:pPr>
            <a:r>
              <a:rPr sz="1180" b="0">
                <a:solidFill>
                  <a:srgbClr val="10161C"/>
                </a:solidFill>
                <a:latin typeface="Arial"/>
              </a:rPr>
              <a:t>Every old river town in Britain stands where it does because somebody once read the ground and worked out where the water goes. We have spent a century building on the parts they left alone. In July 2026 a Siberian city found out what that costs — </a:t>
            </a:r>
            <a:r>
              <a:rPr sz="1180" b="1">
                <a:solidFill>
                  <a:srgbClr val="10161C"/>
                </a:solidFill>
                <a:latin typeface="Arial"/>
              </a:rPr>
              <a:t>so I measured it, and cut the same section through Shropshire.</a:t>
            </a:r>
          </a:p>
        </p:txBody>
      </p:sp>
      <p:pic>
        <p:nvPicPr>
          <p:cNvPr id="7" name="MASTHEAD IMAGE — Tura at the peak" descr="sq_flood.png"/>
          <p:cNvPicPr>
            <a:picLocks noChangeAspect="1"/>
          </p:cNvPicPr>
          <p:nvPr/>
        </p:nvPicPr>
        <p:blipFill>
          <a:blip r:embed="rId2"/>
          <a:stretch>
            <a:fillRect/>
          </a:stretch>
        </p:blipFill>
        <p:spPr>
          <a:xfrm>
            <a:off x="7308000" y="126000"/>
            <a:ext cx="2628000" cy="2628000"/>
          </a:xfrm>
          <a:prstGeom prst="ellipse">
            <a:avLst/>
          </a:prstGeom>
        </p:spPr>
      </p:pic>
      <p:sp>
        <p:nvSpPr>
          <p:cNvPr id="8" name="masthead image caption"/>
          <p:cNvSpPr txBox="1"/>
          <p:nvPr/>
        </p:nvSpPr>
        <p:spPr>
          <a:xfrm>
            <a:off x="7704000" y="2214000"/>
            <a:ext cx="1872000" cy="360000"/>
          </a:xfrm>
          <a:prstGeom prst="rect">
            <a:avLst/>
          </a:prstGeom>
          <a:noFill/>
        </p:spPr>
        <p:txBody>
          <a:bodyPr wrap="square" lIns="0" rIns="0" tIns="0" bIns="0">
            <a:spAutoFit/>
          </a:bodyPr>
          <a:lstStyle/>
          <a:p>
            <a:pPr algn="r">
              <a:lnSpc>
                <a:spcPct val="120000"/>
              </a:lnSpc>
            </a:pPr>
            <a:r>
              <a:rPr sz="1100" b="1">
                <a:solidFill>
                  <a:srgbClr val="FFFFFF"/>
                </a:solidFill>
                <a:latin typeface="Arial"/>
              </a:rPr>
              <a:t>The Tura at Tyumen,</a:t>
            </a:r>
          </a:p>
          <a:p>
            <a:pPr algn="r">
              <a:lnSpc>
                <a:spcPct val="120000"/>
              </a:lnSpc>
            </a:pPr>
            <a:r>
              <a:rPr sz="1100" b="1">
                <a:solidFill>
                  <a:srgbClr val="FFFFFF"/>
                </a:solidFill>
                <a:latin typeface="Arial"/>
              </a:rPr>
              <a:t>29 July 2026</a:t>
            </a:r>
          </a:p>
        </p:txBody>
      </p:sp>
      <p:sp>
        <p:nvSpPr>
          <p:cNvPr id="9" name="kicker dot"/>
          <p:cNvSpPr/>
          <p:nvPr/>
        </p:nvSpPr>
        <p:spPr>
          <a:xfrm>
            <a:off x="468000" y="3020400"/>
            <a:ext cx="144000" cy="144000"/>
          </a:xfrm>
          <a:prstGeom prst="ellipse">
            <a:avLst/>
          </a:prstGeom>
          <a:solidFill>
            <a:srgbClr val="E633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kicker"/>
          <p:cNvSpPr txBox="1"/>
          <p:nvPr/>
        </p:nvSpPr>
        <p:spPr>
          <a:xfrm>
            <a:off x="720000" y="2973600"/>
            <a:ext cx="6300000" cy="288000"/>
          </a:xfrm>
          <a:prstGeom prst="rect">
            <a:avLst/>
          </a:prstGeom>
          <a:noFill/>
        </p:spPr>
        <p:txBody>
          <a:bodyPr wrap="square" lIns="0" rIns="0" tIns="0" bIns="0">
            <a:spAutoFit/>
          </a:bodyPr>
          <a:lstStyle/>
          <a:p>
            <a:pPr algn="l">
              <a:lnSpc>
                <a:spcPct val="115000"/>
              </a:lnSpc>
            </a:pPr>
            <a:r>
              <a:rPr sz="1500" b="1">
                <a:solidFill>
                  <a:srgbClr val="10161C"/>
                </a:solidFill>
                <a:latin typeface="Arial"/>
              </a:rPr>
              <a:t>TWO TOWNS, 4,205 KM APART, CUT TO THE SAME SCALE</a:t>
            </a:r>
          </a:p>
        </p:txBody>
      </p:sp>
      <p:sp>
        <p:nvSpPr>
          <p:cNvPr id="11" name="byline"/>
          <p:cNvSpPr txBox="1"/>
          <p:nvPr/>
        </p:nvSpPr>
        <p:spPr>
          <a:xfrm>
            <a:off x="5400000" y="2984400"/>
            <a:ext cx="4824000" cy="252000"/>
          </a:xfrm>
          <a:prstGeom prst="rect">
            <a:avLst/>
          </a:prstGeom>
          <a:noFill/>
        </p:spPr>
        <p:txBody>
          <a:bodyPr wrap="square" lIns="0" rIns="0" tIns="0" bIns="0">
            <a:spAutoFit/>
          </a:bodyPr>
          <a:lstStyle/>
          <a:p>
            <a:pPr algn="r">
              <a:lnSpc>
                <a:spcPct val="115000"/>
              </a:lnSpc>
            </a:pPr>
            <a:r>
              <a:rPr sz="1250" b="1">
                <a:solidFill>
                  <a:srgbClr val="10161C"/>
                </a:solidFill>
                <a:latin typeface="Arial"/>
              </a:rPr>
              <a:t>Sasha Ostriagin  ·  Bromsgrove School</a:t>
            </a:r>
          </a:p>
        </p:txBody>
      </p:sp>
      <p:pic>
        <p:nvPicPr>
          <p:cNvPr id="12" name="HERO — twin cross-sections (Tyumen / Shrewsbury)" descr="twin_profiles.png"/>
          <p:cNvPicPr>
            <a:picLocks noChangeAspect="1"/>
          </p:cNvPicPr>
          <p:nvPr/>
        </p:nvPicPr>
        <p:blipFill>
          <a:blip r:embed="rId3"/>
          <a:stretch>
            <a:fillRect/>
          </a:stretch>
        </p:blipFill>
        <p:spPr>
          <a:xfrm>
            <a:off x="468000" y="3247200"/>
            <a:ext cx="9576000" cy="3830400"/>
          </a:xfrm>
          <a:prstGeom prst="rect">
            <a:avLst/>
          </a:prstGeom>
        </p:spPr>
      </p:pic>
      <p:sp>
        <p:nvSpPr>
          <p:cNvPr id="13" name="finding circle"/>
          <p:cNvSpPr/>
          <p:nvPr/>
        </p:nvSpPr>
        <p:spPr>
          <a:xfrm>
            <a:off x="468000" y="7135200"/>
            <a:ext cx="1116000" cy="1116000"/>
          </a:xfrm>
          <a:prstGeom prst="ellipse">
            <a:avLst/>
          </a:prstGeom>
          <a:solidFill>
            <a:srgbClr val="1016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finding circle — label"/>
          <p:cNvSpPr txBox="1"/>
          <p:nvPr/>
        </p:nvSpPr>
        <p:spPr>
          <a:xfrm>
            <a:off x="468000" y="7135200"/>
            <a:ext cx="1116000" cy="1116000"/>
          </a:xfrm>
          <a:prstGeom prst="rect">
            <a:avLst/>
          </a:prstGeom>
          <a:noFill/>
        </p:spPr>
        <p:txBody>
          <a:bodyPr wrap="square" lIns="0" rIns="0" tIns="0" bIns="0" anchor="ctr">
            <a:spAutoFit/>
          </a:bodyPr>
          <a:lstStyle/>
          <a:p>
            <a:pPr algn="ctr">
              <a:lnSpc>
                <a:spcPct val="100000"/>
              </a:lnSpc>
            </a:pPr>
            <a:r>
              <a:rPr sz="2000" b="1">
                <a:solidFill>
                  <a:srgbClr val="FFD400"/>
                </a:solidFill>
                <a:latin typeface="Arial"/>
              </a:rPr>
              <a:t>4,205</a:t>
            </a:r>
          </a:p>
          <a:p>
            <a:pPr algn="ctr">
              <a:lnSpc>
                <a:spcPct val="100000"/>
              </a:lnSpc>
            </a:pPr>
            <a:r>
              <a:rPr sz="1100" b="0">
                <a:solidFill>
                  <a:srgbClr val="D9D2B4"/>
                </a:solidFill>
                <a:latin typeface="Arial"/>
              </a:rPr>
              <a:t>km apart</a:t>
            </a:r>
          </a:p>
        </p:txBody>
      </p:sp>
      <p:sp>
        <p:nvSpPr>
          <p:cNvPr id="15" name="the finding"/>
          <p:cNvSpPr txBox="1"/>
          <p:nvPr/>
        </p:nvSpPr>
        <p:spPr>
          <a:xfrm>
            <a:off x="1764000" y="7182000"/>
            <a:ext cx="8460000" cy="1080000"/>
          </a:xfrm>
          <a:prstGeom prst="rect">
            <a:avLst/>
          </a:prstGeom>
          <a:noFill/>
        </p:spPr>
        <p:txBody>
          <a:bodyPr wrap="square" lIns="0" rIns="0" tIns="0" bIns="0">
            <a:spAutoFit/>
          </a:bodyPr>
          <a:lstStyle/>
          <a:p>
            <a:pPr algn="l">
              <a:lnSpc>
                <a:spcPct val="124000"/>
              </a:lnSpc>
            </a:pPr>
            <a:r>
              <a:rPr sz="1360" b="1">
                <a:solidFill>
                  <a:srgbClr val="10161C"/>
                </a:solidFill>
                <a:latin typeface="Arial"/>
              </a:rPr>
              <a:t>The two low banks match to within a metre.</a:t>
            </a:r>
          </a:p>
          <a:p>
            <a:pPr algn="l">
              <a:lnSpc>
                <a:spcPct val="124000"/>
              </a:lnSpc>
            </a:pPr>
            <a:r>
              <a:rPr sz="1100" b="0">
                <a:solidFill>
                  <a:srgbClr val="6E777E"/>
                </a:solidFill>
                <a:latin typeface="Arial"/>
              </a:rPr>
              <a:t>Nobody coordinated this. Two river towns, five centuries and four thousand kilometres apart — and the ground their founders refused sits at almost exactly the same height above the water, as does the ground their descendants later accepted. Read the section and you can see the decision, and the drift away from it.</a:t>
            </a:r>
          </a:p>
        </p:txBody>
      </p:sp>
      <p:pic>
        <p:nvPicPr>
          <p:cNvPr id="16" name="EVIDENCE — before, 18 June" descr="sq_pre.png"/>
          <p:cNvPicPr>
            <a:picLocks noChangeAspect="1"/>
          </p:cNvPicPr>
          <p:nvPr/>
        </p:nvPicPr>
        <p:blipFill>
          <a:blip r:embed="rId4"/>
          <a:stretch>
            <a:fillRect/>
          </a:stretch>
        </p:blipFill>
        <p:spPr>
          <a:xfrm>
            <a:off x="468000" y="8344800"/>
            <a:ext cx="1368000" cy="1368000"/>
          </a:xfrm>
          <a:prstGeom prst="ellipse">
            <a:avLst/>
          </a:prstGeom>
        </p:spPr>
      </p:pic>
      <p:pic>
        <p:nvPicPr>
          <p:cNvPr id="17" name="EVIDENCE — peak, 29 July" descr="sq_flood.png"/>
          <p:cNvPicPr>
            <a:picLocks noChangeAspect="1"/>
          </p:cNvPicPr>
          <p:nvPr/>
        </p:nvPicPr>
        <p:blipFill>
          <a:blip r:embed="rId2"/>
          <a:stretch>
            <a:fillRect/>
          </a:stretch>
        </p:blipFill>
        <p:spPr>
          <a:xfrm>
            <a:off x="2016000" y="8344800"/>
            <a:ext cx="1368000" cy="1368000"/>
          </a:xfrm>
          <a:prstGeom prst="ellipse">
            <a:avLst/>
          </a:prstGeom>
        </p:spPr>
      </p:pic>
      <p:sp>
        <p:nvSpPr>
          <p:cNvPr id="18" name="caption — before"/>
          <p:cNvSpPr txBox="1"/>
          <p:nvPr/>
        </p:nvSpPr>
        <p:spPr>
          <a:xfrm>
            <a:off x="468000" y="9766800"/>
            <a:ext cx="1440000" cy="324000"/>
          </a:xfrm>
          <a:prstGeom prst="rect">
            <a:avLst/>
          </a:prstGeom>
          <a:noFill/>
        </p:spPr>
        <p:txBody>
          <a:bodyPr wrap="square" lIns="0" rIns="0" tIns="0" bIns="0">
            <a:spAutoFit/>
          </a:bodyPr>
          <a:lstStyle/>
          <a:p>
            <a:pPr algn="l">
              <a:lnSpc>
                <a:spcPct val="115000"/>
              </a:lnSpc>
            </a:pPr>
            <a:r>
              <a:rPr sz="1100" b="1">
                <a:solidFill>
                  <a:srgbClr val="10161C"/>
                </a:solidFill>
                <a:latin typeface="Arial"/>
              </a:rPr>
              <a:t>18 JUNE 2026</a:t>
            </a:r>
          </a:p>
          <a:p>
            <a:pPr algn="l">
              <a:lnSpc>
                <a:spcPct val="115000"/>
              </a:lnSpc>
            </a:pPr>
            <a:r>
              <a:rPr sz="1100" b="0">
                <a:solidFill>
                  <a:srgbClr val="6E777E"/>
                </a:solidFill>
                <a:latin typeface="Arial"/>
              </a:rPr>
              <a:t>137 ha of water</a:t>
            </a:r>
          </a:p>
        </p:txBody>
      </p:sp>
      <p:sp>
        <p:nvSpPr>
          <p:cNvPr id="19" name="caption — peak"/>
          <p:cNvSpPr txBox="1"/>
          <p:nvPr/>
        </p:nvSpPr>
        <p:spPr>
          <a:xfrm>
            <a:off x="2016000" y="9766800"/>
            <a:ext cx="1440000" cy="324000"/>
          </a:xfrm>
          <a:prstGeom prst="rect">
            <a:avLst/>
          </a:prstGeom>
          <a:noFill/>
        </p:spPr>
        <p:txBody>
          <a:bodyPr wrap="square" lIns="0" rIns="0" tIns="0" bIns="0">
            <a:spAutoFit/>
          </a:bodyPr>
          <a:lstStyle/>
          <a:p>
            <a:pPr algn="l">
              <a:lnSpc>
                <a:spcPct val="115000"/>
              </a:lnSpc>
            </a:pPr>
            <a:r>
              <a:rPr sz="1100" b="1">
                <a:solidFill>
                  <a:srgbClr val="10161C"/>
                </a:solidFill>
                <a:latin typeface="Arial"/>
              </a:rPr>
              <a:t>29 JULY 2026</a:t>
            </a:r>
          </a:p>
          <a:p>
            <a:pPr algn="l">
              <a:lnSpc>
                <a:spcPct val="115000"/>
              </a:lnSpc>
            </a:pPr>
            <a:r>
              <a:rPr sz="1100" b="0">
                <a:solidFill>
                  <a:srgbClr val="6E777E"/>
                </a:solidFill>
                <a:latin typeface="Arial"/>
              </a:rPr>
              <a:t>415 ha of water</a:t>
            </a:r>
          </a:p>
        </p:txBody>
      </p:sp>
      <p:sp>
        <p:nvSpPr>
          <p:cNvPr id="20" name="evidence text"/>
          <p:cNvSpPr txBox="1"/>
          <p:nvPr/>
        </p:nvSpPr>
        <p:spPr>
          <a:xfrm>
            <a:off x="3564000" y="8344800"/>
            <a:ext cx="6660000" cy="432000"/>
          </a:xfrm>
          <a:prstGeom prst="rect">
            <a:avLst/>
          </a:prstGeom>
          <a:noFill/>
        </p:spPr>
        <p:txBody>
          <a:bodyPr wrap="square" lIns="0" rIns="0" tIns="0" bIns="0">
            <a:spAutoFit/>
          </a:bodyPr>
          <a:lstStyle/>
          <a:p>
            <a:pPr algn="l">
              <a:lnSpc>
                <a:spcPct val="126000"/>
              </a:lnSpc>
            </a:pPr>
            <a:r>
              <a:rPr sz="1190" b="0">
                <a:solidFill>
                  <a:srgbClr val="10161C"/>
                </a:solidFill>
                <a:latin typeface="Arial"/>
              </a:rPr>
              <a:t>The Tura </a:t>
            </a:r>
            <a:r>
              <a:rPr sz="1190" b="1">
                <a:solidFill>
                  <a:srgbClr val="E63329"/>
                </a:solidFill>
                <a:latin typeface="Arial"/>
              </a:rPr>
              <a:t>tripled</a:t>
            </a:r>
            <a:r>
              <a:rPr sz="1190" b="0">
                <a:solidFill>
                  <a:srgbClr val="10161C"/>
                </a:solidFill>
                <a:latin typeface="Arial"/>
              </a:rPr>
              <a:t>. A record 8.9 m rise put 281 hectares of dry land under water — 40 km of road on the low bank against 11 km on the high — and almost all of the damage fell on the side the founders had left empty.</a:t>
            </a:r>
          </a:p>
        </p:txBody>
      </p:sp>
      <p:sp>
        <p:nvSpPr>
          <p:cNvPr id="21" name="stat 1"/>
          <p:cNvSpPr/>
          <p:nvPr/>
        </p:nvSpPr>
        <p:spPr>
          <a:xfrm>
            <a:off x="3564000" y="9045000"/>
            <a:ext cx="1026000" cy="1026000"/>
          </a:xfrm>
          <a:prstGeom prst="ellipse">
            <a:avLst/>
          </a:prstGeom>
          <a:solidFill>
            <a:srgbClr val="E633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stat 1 — label"/>
          <p:cNvSpPr txBox="1"/>
          <p:nvPr/>
        </p:nvSpPr>
        <p:spPr>
          <a:xfrm>
            <a:off x="3609000" y="9090000"/>
            <a:ext cx="936000" cy="936000"/>
          </a:xfrm>
          <a:prstGeom prst="rect">
            <a:avLst/>
          </a:prstGeom>
          <a:noFill/>
        </p:spPr>
        <p:txBody>
          <a:bodyPr wrap="square" lIns="0" rIns="0" tIns="0" bIns="0" anchor="ctr">
            <a:spAutoFit/>
          </a:bodyPr>
          <a:lstStyle/>
          <a:p>
            <a:pPr algn="ctr">
              <a:lnSpc>
                <a:spcPct val="100000"/>
              </a:lnSpc>
            </a:pPr>
            <a:r>
              <a:rPr sz="1400" b="1">
                <a:solidFill>
                  <a:srgbClr val="FFFFFF"/>
                </a:solidFill>
                <a:latin typeface="Arial"/>
              </a:rPr>
              <a:t>1 in 6</a:t>
            </a:r>
          </a:p>
          <a:p>
            <a:pPr algn="ctr">
              <a:lnSpc>
                <a:spcPct val="100000"/>
              </a:lnSpc>
            </a:pPr>
            <a:r>
              <a:rPr sz="1100" b="0">
                <a:solidFill>
                  <a:srgbClr val="FFFFFF"/>
                </a:solidFill>
                <a:latin typeface="Arial"/>
              </a:rPr>
              <a:t>buildings flooded, low bank</a:t>
            </a:r>
          </a:p>
        </p:txBody>
      </p:sp>
      <p:sp>
        <p:nvSpPr>
          <p:cNvPr id="23" name="stat 2"/>
          <p:cNvSpPr/>
          <p:nvPr/>
        </p:nvSpPr>
        <p:spPr>
          <a:xfrm>
            <a:off x="4698000" y="9045000"/>
            <a:ext cx="1026000" cy="1026000"/>
          </a:xfrm>
          <a:prstGeom prst="ellipse">
            <a:avLst/>
          </a:prstGeom>
          <a:noFill/>
          <a:ln w="35941">
            <a:solidFill>
              <a:srgbClr val="1016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stat 2 — label"/>
          <p:cNvSpPr txBox="1"/>
          <p:nvPr/>
        </p:nvSpPr>
        <p:spPr>
          <a:xfrm>
            <a:off x="4743000" y="9090000"/>
            <a:ext cx="936000" cy="936000"/>
          </a:xfrm>
          <a:prstGeom prst="rect">
            <a:avLst/>
          </a:prstGeom>
          <a:noFill/>
        </p:spPr>
        <p:txBody>
          <a:bodyPr wrap="square" lIns="0" rIns="0" tIns="0" bIns="0" anchor="ctr">
            <a:spAutoFit/>
          </a:bodyPr>
          <a:lstStyle/>
          <a:p>
            <a:pPr algn="ctr">
              <a:lnSpc>
                <a:spcPct val="100000"/>
              </a:lnSpc>
            </a:pPr>
            <a:r>
              <a:rPr sz="1400" b="1">
                <a:solidFill>
                  <a:srgbClr val="10161C"/>
                </a:solidFill>
                <a:latin typeface="Arial"/>
              </a:rPr>
              <a:t>1 in 250</a:t>
            </a:r>
          </a:p>
          <a:p>
            <a:pPr algn="ctr">
              <a:lnSpc>
                <a:spcPct val="100000"/>
              </a:lnSpc>
            </a:pPr>
            <a:r>
              <a:rPr sz="1100" b="0">
                <a:solidFill>
                  <a:srgbClr val="10161C"/>
                </a:solidFill>
                <a:latin typeface="Arial"/>
              </a:rPr>
              <a:t>buildings flooded, high bank</a:t>
            </a:r>
          </a:p>
        </p:txBody>
      </p:sp>
      <p:sp>
        <p:nvSpPr>
          <p:cNvPr id="25" name="stat 3"/>
          <p:cNvSpPr/>
          <p:nvPr/>
        </p:nvSpPr>
        <p:spPr>
          <a:xfrm>
            <a:off x="5832000" y="9045000"/>
            <a:ext cx="1026000" cy="1026000"/>
          </a:xfrm>
          <a:prstGeom prst="ellipse">
            <a:avLst/>
          </a:prstGeom>
          <a:solidFill>
            <a:srgbClr val="E633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stat 3 — label"/>
          <p:cNvSpPr txBox="1"/>
          <p:nvPr/>
        </p:nvSpPr>
        <p:spPr>
          <a:xfrm>
            <a:off x="5877000" y="9090000"/>
            <a:ext cx="936000" cy="936000"/>
          </a:xfrm>
          <a:prstGeom prst="rect">
            <a:avLst/>
          </a:prstGeom>
          <a:noFill/>
        </p:spPr>
        <p:txBody>
          <a:bodyPr wrap="square" lIns="0" rIns="0" tIns="0" bIns="0" anchor="ctr">
            <a:spAutoFit/>
          </a:bodyPr>
          <a:lstStyle/>
          <a:p>
            <a:pPr algn="ctr">
              <a:lnSpc>
                <a:spcPct val="100000"/>
              </a:lnSpc>
            </a:pPr>
            <a:r>
              <a:rPr sz="1400" b="1">
                <a:solidFill>
                  <a:srgbClr val="FFFFFF"/>
                </a:solidFill>
                <a:latin typeface="Arial"/>
              </a:rPr>
              <a:t>9×</a:t>
            </a:r>
          </a:p>
          <a:p>
            <a:pPr algn="ctr">
              <a:lnSpc>
                <a:spcPct val="100000"/>
              </a:lnSpc>
            </a:pPr>
            <a:r>
              <a:rPr sz="1100" b="0">
                <a:solidFill>
                  <a:srgbClr val="FFFFFF"/>
                </a:solidFill>
                <a:latin typeface="Arial"/>
              </a:rPr>
              <a:t>more people in the water</a:t>
            </a:r>
          </a:p>
        </p:txBody>
      </p:sp>
      <p:sp>
        <p:nvSpPr>
          <p:cNvPr id="27" name="stat 4"/>
          <p:cNvSpPr/>
          <p:nvPr/>
        </p:nvSpPr>
        <p:spPr>
          <a:xfrm>
            <a:off x="6966000" y="9045000"/>
            <a:ext cx="1026000" cy="1026000"/>
          </a:xfrm>
          <a:prstGeom prst="ellipse">
            <a:avLst/>
          </a:prstGeom>
          <a:noFill/>
          <a:ln w="35941">
            <a:solidFill>
              <a:srgbClr val="1016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stat 4 — label"/>
          <p:cNvSpPr txBox="1"/>
          <p:nvPr/>
        </p:nvSpPr>
        <p:spPr>
          <a:xfrm>
            <a:off x="7011000" y="9090000"/>
            <a:ext cx="936000" cy="936000"/>
          </a:xfrm>
          <a:prstGeom prst="rect">
            <a:avLst/>
          </a:prstGeom>
          <a:noFill/>
        </p:spPr>
        <p:txBody>
          <a:bodyPr wrap="square" lIns="0" rIns="0" tIns="0" bIns="0" anchor="ctr">
            <a:spAutoFit/>
          </a:bodyPr>
          <a:lstStyle/>
          <a:p>
            <a:pPr algn="ctr">
              <a:lnSpc>
                <a:spcPct val="100000"/>
              </a:lnSpc>
            </a:pPr>
            <a:r>
              <a:rPr sz="1400" b="1">
                <a:solidFill>
                  <a:srgbClr val="10161C"/>
                </a:solidFill>
                <a:latin typeface="Arial"/>
              </a:rPr>
              <a:t>40 km</a:t>
            </a:r>
          </a:p>
          <a:p>
            <a:pPr algn="ctr">
              <a:lnSpc>
                <a:spcPct val="100000"/>
              </a:lnSpc>
            </a:pPr>
            <a:r>
              <a:rPr sz="1100" b="0">
                <a:solidFill>
                  <a:srgbClr val="10161C"/>
                </a:solidFill>
                <a:latin typeface="Arial"/>
              </a:rPr>
              <a:t>of road under water</a:t>
            </a:r>
          </a:p>
        </p:txBody>
      </p:sp>
      <p:sp>
        <p:nvSpPr>
          <p:cNvPr id="29" name="threshold mark"/>
          <p:cNvSpPr/>
          <p:nvPr/>
        </p:nvSpPr>
        <p:spPr>
          <a:xfrm>
            <a:off x="468000" y="10170000"/>
            <a:ext cx="540000" cy="540000"/>
          </a:xfrm>
          <a:prstGeom prst="ellipse">
            <a:avLst/>
          </a:prstGeom>
          <a:solidFill>
            <a:srgbClr val="E633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hreshold mark — glyph"/>
          <p:cNvSpPr txBox="1"/>
          <p:nvPr/>
        </p:nvSpPr>
        <p:spPr>
          <a:xfrm>
            <a:off x="468000" y="10267200"/>
            <a:ext cx="540000" cy="360000"/>
          </a:xfrm>
          <a:prstGeom prst="rect">
            <a:avLst/>
          </a:prstGeom>
          <a:noFill/>
        </p:spPr>
        <p:txBody>
          <a:bodyPr wrap="square" lIns="0" rIns="0" tIns="0" bIns="0">
            <a:spAutoFit/>
          </a:bodyPr>
          <a:lstStyle/>
          <a:p>
            <a:pPr algn="ctr">
              <a:lnSpc>
                <a:spcPct val="115000"/>
              </a:lnSpc>
            </a:pPr>
            <a:r>
              <a:rPr sz="2400" b="1">
                <a:solidFill>
                  <a:srgbClr val="FFFFFF"/>
                </a:solidFill>
                <a:latin typeface="Arial Black"/>
              </a:rPr>
              <a:t>!</a:t>
            </a:r>
          </a:p>
        </p:txBody>
      </p:sp>
      <p:sp>
        <p:nvSpPr>
          <p:cNvPr id="31" name="threshold"/>
          <p:cNvSpPr txBox="1"/>
          <p:nvPr/>
        </p:nvSpPr>
        <p:spPr>
          <a:xfrm>
            <a:off x="1170000" y="10202400"/>
            <a:ext cx="9036000" cy="864000"/>
          </a:xfrm>
          <a:prstGeom prst="rect">
            <a:avLst/>
          </a:prstGeom>
          <a:noFill/>
        </p:spPr>
        <p:txBody>
          <a:bodyPr wrap="square" lIns="0" rIns="0" tIns="0" bIns="0">
            <a:spAutoFit/>
          </a:bodyPr>
          <a:lstStyle/>
          <a:p>
            <a:pPr algn="l">
              <a:lnSpc>
                <a:spcPct val="126000"/>
              </a:lnSpc>
            </a:pPr>
            <a:r>
              <a:rPr sz="1450" b="1">
                <a:solidFill>
                  <a:srgbClr val="10161C"/>
                </a:solidFill>
                <a:latin typeface="Arial"/>
              </a:rPr>
              <a:t>THE OLD RULE HELD FOR 440 YEARS. THEN IT DIDN'T.</a:t>
            </a:r>
          </a:p>
          <a:p>
            <a:pPr algn="l">
              <a:lnSpc>
                <a:spcPct val="126000"/>
              </a:lnSpc>
            </a:pPr>
            <a:r>
              <a:rPr sz="1190" b="0">
                <a:solidFill>
                  <a:srgbClr val="10161C"/>
                </a:solidFill>
                <a:latin typeface="Arial"/>
              </a:rPr>
              <a:t>The 2026 peak climbed onto the </a:t>
            </a:r>
            <a:r>
              <a:rPr sz="1190" b="1">
                <a:solidFill>
                  <a:srgbClr val="10161C"/>
                </a:solidFill>
                <a:latin typeface="Arial"/>
              </a:rPr>
              <a:t>second terrace</a:t>
            </a:r>
            <a:r>
              <a:rPr sz="1190" b="0">
                <a:solidFill>
                  <a:srgbClr val="10161C"/>
                </a:solidFill>
                <a:latin typeface="Arial"/>
              </a:rPr>
              <a:t> — ground raised above the floodplain, built on in the belief that it stood clear — and it went under for the first time in living memory. Four centuries of siting logic is not a boundary but a </a:t>
            </a:r>
            <a:r>
              <a:rPr sz="1190" b="1">
                <a:solidFill>
                  <a:srgbClr val="10161C"/>
                </a:solidFill>
                <a:latin typeface="Arial"/>
              </a:rPr>
              <a:t>threshold</a:t>
            </a:r>
            <a:r>
              <a:rPr sz="1190" b="0">
                <a:solidFill>
                  <a:srgbClr val="10161C"/>
                </a:solidFill>
                <a:latin typeface="Arial"/>
              </a:rPr>
              <a:t>, and a record flood is what finds it.</a:t>
            </a:r>
          </a:p>
        </p:txBody>
      </p:sp>
      <p:sp>
        <p:nvSpPr>
          <p:cNvPr id="32" name="BRITAIN — dark field"/>
          <p:cNvSpPr/>
          <p:nvPr/>
        </p:nvSpPr>
        <p:spPr>
          <a:xfrm>
            <a:off x="0" y="11160000"/>
            <a:ext cx="10692000" cy="2736000"/>
          </a:xfrm>
          <a:prstGeom prst="rect">
            <a:avLst/>
          </a:prstGeom>
          <a:solidFill>
            <a:srgbClr val="1016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britain heading"/>
          <p:cNvSpPr txBox="1"/>
          <p:nvPr/>
        </p:nvSpPr>
        <p:spPr>
          <a:xfrm>
            <a:off x="468000" y="11318400"/>
            <a:ext cx="9720000" cy="360000"/>
          </a:xfrm>
          <a:prstGeom prst="rect">
            <a:avLst/>
          </a:prstGeom>
          <a:noFill/>
        </p:spPr>
        <p:txBody>
          <a:bodyPr wrap="square" lIns="0" rIns="0" tIns="0" bIns="0">
            <a:spAutoFit/>
          </a:bodyPr>
          <a:lstStyle/>
          <a:p>
            <a:pPr algn="l">
              <a:lnSpc>
                <a:spcPct val="100000"/>
              </a:lnSpc>
            </a:pPr>
            <a:r>
              <a:rPr sz="2100" b="1">
                <a:solidFill>
                  <a:srgbClr val="FFFFFF"/>
                </a:solidFill>
                <a:latin typeface="Arial Black"/>
              </a:rPr>
              <a:t>SO WHAT DOES THIS MEAN </a:t>
            </a:r>
            <a:r>
              <a:rPr sz="2100" b="1">
                <a:solidFill>
                  <a:srgbClr val="FFD400"/>
                </a:solidFill>
                <a:latin typeface="Arial Black"/>
              </a:rPr>
              <a:t>HERE?</a:t>
            </a:r>
          </a:p>
        </p:txBody>
      </p:sp>
      <p:sp>
        <p:nvSpPr>
          <p:cNvPr id="34" name="britain — Shrewsbury"/>
          <p:cNvSpPr txBox="1"/>
          <p:nvPr/>
        </p:nvSpPr>
        <p:spPr>
          <a:xfrm>
            <a:off x="468000" y="11728800"/>
            <a:ext cx="3492000" cy="1296000"/>
          </a:xfrm>
          <a:prstGeom prst="rect">
            <a:avLst/>
          </a:prstGeom>
          <a:noFill/>
        </p:spPr>
        <p:txBody>
          <a:bodyPr wrap="square" lIns="0" rIns="0" tIns="0" bIns="0">
            <a:spAutoFit/>
          </a:bodyPr>
          <a:lstStyle/>
          <a:p>
            <a:pPr algn="l">
              <a:lnSpc>
                <a:spcPct val="126000"/>
              </a:lnSpc>
            </a:pPr>
            <a:r>
              <a:rPr sz="1160" b="0">
                <a:solidFill>
                  <a:srgbClr val="E7EAEC"/>
                </a:solidFill>
                <a:latin typeface="Arial"/>
              </a:rPr>
              <a:t>Shrewsbury's gauge board at the Welsh Bridge starts at </a:t>
            </a:r>
            <a:r>
              <a:rPr sz="1160" b="1">
                <a:solidFill>
                  <a:srgbClr val="FFD400"/>
                </a:solidFill>
                <a:latin typeface="Arial"/>
              </a:rPr>
              <a:t>47.0 m above sea level</a:t>
            </a:r>
            <a:r>
              <a:rPr sz="1160" b="0">
                <a:solidFill>
                  <a:srgbClr val="E7EAEC"/>
                </a:solidFill>
                <a:latin typeface="Arial"/>
              </a:rPr>
              <a:t>; the highest water ever recorded there, in 1795, stood 5.70 m up it. The medieval town, 27 m up, has never been the problem. </a:t>
            </a:r>
            <a:r>
              <a:rPr sz="1160" b="1">
                <a:solidFill>
                  <a:srgbClr val="FFD400"/>
                </a:solidFill>
                <a:latin typeface="Arial"/>
              </a:rPr>
              <a:t>Frankwell</a:t>
            </a:r>
            <a:r>
              <a:rPr sz="1160" b="0">
                <a:solidFill>
                  <a:srgbClr val="E7EAEC"/>
                </a:solidFill>
                <a:latin typeface="Arial"/>
              </a:rPr>
              <a:t>, eleven metres up, flooded three times in six weeks in 2000.</a:t>
            </a:r>
          </a:p>
        </p:txBody>
      </p:sp>
      <p:sp>
        <p:nvSpPr>
          <p:cNvPr id="35" name="britain — the number"/>
          <p:cNvSpPr txBox="1"/>
          <p:nvPr/>
        </p:nvSpPr>
        <p:spPr>
          <a:xfrm>
            <a:off x="4176000" y="11700000"/>
            <a:ext cx="2592000" cy="1296000"/>
          </a:xfrm>
          <a:prstGeom prst="rect">
            <a:avLst/>
          </a:prstGeom>
          <a:noFill/>
        </p:spPr>
        <p:txBody>
          <a:bodyPr wrap="square" lIns="0" rIns="0" tIns="0" bIns="0">
            <a:spAutoFit/>
          </a:bodyPr>
          <a:lstStyle/>
          <a:p>
            <a:pPr algn="l">
              <a:lnSpc>
                <a:spcPct val="100000"/>
              </a:lnSpc>
            </a:pPr>
            <a:r>
              <a:rPr sz="3100" b="1">
                <a:solidFill>
                  <a:srgbClr val="FFD400"/>
                </a:solidFill>
                <a:latin typeface="Arial Black"/>
              </a:rPr>
              <a:t>6.3m → 8m</a:t>
            </a:r>
          </a:p>
          <a:p>
            <a:pPr algn="l">
              <a:lnSpc>
                <a:spcPct val="100000"/>
              </a:lnSpc>
            </a:pPr>
            <a:r>
              <a:rPr sz="1100" b="0">
                <a:solidFill>
                  <a:srgbClr val="AEB6BC"/>
                </a:solidFill>
                <a:latin typeface="Arial Black"/>
              </a:rPr>
              <a:t>properties in England in areas at risk of flooding today, and by mid-century on the Environment Agency's own projection — one property in four.</a:t>
            </a:r>
          </a:p>
        </p:txBody>
      </p:sp>
      <p:sp>
        <p:nvSpPr>
          <p:cNvPr id="36" name="britain — the method"/>
          <p:cNvSpPr txBox="1"/>
          <p:nvPr/>
        </p:nvSpPr>
        <p:spPr>
          <a:xfrm>
            <a:off x="6984000" y="11728800"/>
            <a:ext cx="3240000" cy="1296000"/>
          </a:xfrm>
          <a:prstGeom prst="rect">
            <a:avLst/>
          </a:prstGeom>
          <a:noFill/>
        </p:spPr>
        <p:txBody>
          <a:bodyPr wrap="square" lIns="0" rIns="0" tIns="0" bIns="0">
            <a:spAutoFit/>
          </a:bodyPr>
          <a:lstStyle/>
          <a:p>
            <a:pPr algn="l">
              <a:lnSpc>
                <a:spcPct val="126000"/>
              </a:lnSpc>
            </a:pPr>
            <a:r>
              <a:rPr sz="1160" b="0">
                <a:solidFill>
                  <a:srgbClr val="E7EAEC"/>
                </a:solidFill>
                <a:latin typeface="Arial"/>
              </a:rPr>
              <a:t>Free satellite imagery, a free 30 m elevation model, a few hundred lines of Python. </a:t>
            </a:r>
            <a:r>
              <a:rPr sz="1160" b="1">
                <a:solidFill>
                  <a:srgbClr val="FFD400"/>
                </a:solidFill>
                <a:latin typeface="Arial"/>
              </a:rPr>
              <a:t>Any town in Britain can be sectioned this way in an afternoon.</a:t>
            </a:r>
            <a:r>
              <a:rPr sz="1160" b="0">
                <a:solidFill>
                  <a:srgbClr val="E7EAEC"/>
                </a:solidFill>
                <a:latin typeface="Arial"/>
              </a:rPr>
              <a:t> The question is not whether a river floods, but how far above the water we are building now.</a:t>
            </a:r>
          </a:p>
        </p:txBody>
      </p:sp>
      <p:sp>
        <p:nvSpPr>
          <p:cNvPr id="37" name="ribbon — TURA"/>
          <p:cNvSpPr txBox="1"/>
          <p:nvPr/>
        </p:nvSpPr>
        <p:spPr>
          <a:xfrm>
            <a:off x="468000" y="13158000"/>
            <a:ext cx="1440000" cy="216000"/>
          </a:xfrm>
          <a:prstGeom prst="rect">
            <a:avLst/>
          </a:prstGeom>
          <a:noFill/>
        </p:spPr>
        <p:txBody>
          <a:bodyPr wrap="square" lIns="0" rIns="0" tIns="0" bIns="0">
            <a:spAutoFit/>
          </a:bodyPr>
          <a:lstStyle/>
          <a:p>
            <a:pPr algn="l">
              <a:lnSpc>
                <a:spcPct val="115000"/>
              </a:lnSpc>
            </a:pPr>
            <a:r>
              <a:rPr sz="1130" b="1">
                <a:solidFill>
                  <a:srgbClr val="FFFFFF"/>
                </a:solidFill>
                <a:latin typeface="Arial"/>
              </a:rPr>
              <a:t>TURA</a:t>
            </a:r>
          </a:p>
        </p:txBody>
      </p:sp>
      <p:sp>
        <p:nvSpPr>
          <p:cNvPr id="38" name="ribbon — TOBOL"/>
          <p:cNvSpPr txBox="1"/>
          <p:nvPr/>
        </p:nvSpPr>
        <p:spPr>
          <a:xfrm>
            <a:off x="1872000" y="13158000"/>
            <a:ext cx="1440000" cy="216000"/>
          </a:xfrm>
          <a:prstGeom prst="rect">
            <a:avLst/>
          </a:prstGeom>
          <a:noFill/>
        </p:spPr>
        <p:txBody>
          <a:bodyPr wrap="square" lIns="0" rIns="0" tIns="0" bIns="0">
            <a:spAutoFit/>
          </a:bodyPr>
          <a:lstStyle/>
          <a:p>
            <a:pPr algn="l">
              <a:lnSpc>
                <a:spcPct val="115000"/>
              </a:lnSpc>
            </a:pPr>
            <a:r>
              <a:rPr sz="1130" b="1">
                <a:solidFill>
                  <a:srgbClr val="FFFFFF"/>
                </a:solidFill>
                <a:latin typeface="Arial"/>
              </a:rPr>
              <a:t>TOBOL</a:t>
            </a:r>
          </a:p>
        </p:txBody>
      </p:sp>
      <p:sp>
        <p:nvSpPr>
          <p:cNvPr id="39" name="ribbon — IRTYSH"/>
          <p:cNvSpPr txBox="1"/>
          <p:nvPr/>
        </p:nvSpPr>
        <p:spPr>
          <a:xfrm>
            <a:off x="3456000" y="13158000"/>
            <a:ext cx="1440000" cy="216000"/>
          </a:xfrm>
          <a:prstGeom prst="rect">
            <a:avLst/>
          </a:prstGeom>
          <a:noFill/>
        </p:spPr>
        <p:txBody>
          <a:bodyPr wrap="square" lIns="0" rIns="0" tIns="0" bIns="0">
            <a:spAutoFit/>
          </a:bodyPr>
          <a:lstStyle/>
          <a:p>
            <a:pPr algn="l">
              <a:lnSpc>
                <a:spcPct val="115000"/>
              </a:lnSpc>
            </a:pPr>
            <a:r>
              <a:rPr sz="1130" b="1">
                <a:solidFill>
                  <a:srgbClr val="FFFFFF"/>
                </a:solidFill>
                <a:latin typeface="Arial"/>
              </a:rPr>
              <a:t>IRTYSH</a:t>
            </a:r>
          </a:p>
        </p:txBody>
      </p:sp>
      <p:sp>
        <p:nvSpPr>
          <p:cNvPr id="40" name="ribbon — OB"/>
          <p:cNvSpPr txBox="1"/>
          <p:nvPr/>
        </p:nvSpPr>
        <p:spPr>
          <a:xfrm>
            <a:off x="5040000" y="13158000"/>
            <a:ext cx="1440000" cy="216000"/>
          </a:xfrm>
          <a:prstGeom prst="rect">
            <a:avLst/>
          </a:prstGeom>
          <a:noFill/>
        </p:spPr>
        <p:txBody>
          <a:bodyPr wrap="square" lIns="0" rIns="0" tIns="0" bIns="0">
            <a:spAutoFit/>
          </a:bodyPr>
          <a:lstStyle/>
          <a:p>
            <a:pPr algn="l">
              <a:lnSpc>
                <a:spcPct val="115000"/>
              </a:lnSpc>
            </a:pPr>
            <a:r>
              <a:rPr sz="1130" b="1">
                <a:solidFill>
                  <a:srgbClr val="FFFFFF"/>
                </a:solidFill>
                <a:latin typeface="Arial"/>
              </a:rPr>
              <a:t>OB</a:t>
            </a:r>
          </a:p>
        </p:txBody>
      </p:sp>
      <p:sp>
        <p:nvSpPr>
          <p:cNvPr id="41" name="ribbon — KARA SEA"/>
          <p:cNvSpPr txBox="1"/>
          <p:nvPr/>
        </p:nvSpPr>
        <p:spPr>
          <a:xfrm>
            <a:off x="5976000" y="13158000"/>
            <a:ext cx="1440000" cy="216000"/>
          </a:xfrm>
          <a:prstGeom prst="rect">
            <a:avLst/>
          </a:prstGeom>
          <a:noFill/>
        </p:spPr>
        <p:txBody>
          <a:bodyPr wrap="square" lIns="0" rIns="0" tIns="0" bIns="0">
            <a:spAutoFit/>
          </a:bodyPr>
          <a:lstStyle/>
          <a:p>
            <a:pPr algn="l">
              <a:lnSpc>
                <a:spcPct val="115000"/>
              </a:lnSpc>
            </a:pPr>
            <a:r>
              <a:rPr sz="1130" b="1">
                <a:solidFill>
                  <a:srgbClr val="FFD400"/>
                </a:solidFill>
                <a:latin typeface="Arial"/>
              </a:rPr>
              <a:t>KARA SEA</a:t>
            </a:r>
          </a:p>
        </p:txBody>
      </p:sp>
      <p:sp>
        <p:nvSpPr>
          <p:cNvPr id="42" name="ribbon — SEVERN"/>
          <p:cNvSpPr txBox="1"/>
          <p:nvPr/>
        </p:nvSpPr>
        <p:spPr>
          <a:xfrm>
            <a:off x="7524000" y="13158000"/>
            <a:ext cx="1440000" cy="216000"/>
          </a:xfrm>
          <a:prstGeom prst="rect">
            <a:avLst/>
          </a:prstGeom>
          <a:noFill/>
        </p:spPr>
        <p:txBody>
          <a:bodyPr wrap="square" lIns="0" rIns="0" tIns="0" bIns="0">
            <a:spAutoFit/>
          </a:bodyPr>
          <a:lstStyle/>
          <a:p>
            <a:pPr algn="l">
              <a:lnSpc>
                <a:spcPct val="115000"/>
              </a:lnSpc>
            </a:pPr>
            <a:r>
              <a:rPr sz="1130" b="1">
                <a:solidFill>
                  <a:srgbClr val="FFFFFF"/>
                </a:solidFill>
                <a:latin typeface="Arial"/>
              </a:rPr>
              <a:t>SEVERN</a:t>
            </a:r>
          </a:p>
        </p:txBody>
      </p:sp>
      <p:sp>
        <p:nvSpPr>
          <p:cNvPr id="43" name="ribbon — BRISTOL CHANNEL"/>
          <p:cNvSpPr txBox="1"/>
          <p:nvPr/>
        </p:nvSpPr>
        <p:spPr>
          <a:xfrm>
            <a:off x="8856000" y="13158000"/>
            <a:ext cx="1440000" cy="216000"/>
          </a:xfrm>
          <a:prstGeom prst="rect">
            <a:avLst/>
          </a:prstGeom>
          <a:noFill/>
        </p:spPr>
        <p:txBody>
          <a:bodyPr wrap="square" lIns="0" rIns="0" tIns="0" bIns="0">
            <a:spAutoFit/>
          </a:bodyPr>
          <a:lstStyle/>
          <a:p>
            <a:pPr algn="l">
              <a:lnSpc>
                <a:spcPct val="115000"/>
              </a:lnSpc>
            </a:pPr>
            <a:r>
              <a:rPr sz="1130" b="1">
                <a:solidFill>
                  <a:srgbClr val="FFD400"/>
                </a:solidFill>
                <a:latin typeface="Arial"/>
              </a:rPr>
              <a:t>BRISTOL CHANNEL</a:t>
            </a:r>
          </a:p>
        </p:txBody>
      </p:sp>
      <p:sp>
        <p:nvSpPr>
          <p:cNvPr id="44" name="ribbon rule"/>
          <p:cNvSpPr/>
          <p:nvPr/>
        </p:nvSpPr>
        <p:spPr>
          <a:xfrm>
            <a:off x="1008000" y="13230000"/>
            <a:ext cx="792000" cy="21600"/>
          </a:xfrm>
          <a:prstGeom prst="rect">
            <a:avLst/>
          </a:prstGeom>
          <a:solidFill>
            <a:srgbClr val="3A44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ibbon rule"/>
          <p:cNvSpPr/>
          <p:nvPr/>
        </p:nvSpPr>
        <p:spPr>
          <a:xfrm>
            <a:off x="2592000" y="13230000"/>
            <a:ext cx="792000" cy="21600"/>
          </a:xfrm>
          <a:prstGeom prst="rect">
            <a:avLst/>
          </a:prstGeom>
          <a:solidFill>
            <a:srgbClr val="3A44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ibbon rule"/>
          <p:cNvSpPr/>
          <p:nvPr/>
        </p:nvSpPr>
        <p:spPr>
          <a:xfrm>
            <a:off x="3960000" y="13230000"/>
            <a:ext cx="1008000" cy="21600"/>
          </a:xfrm>
          <a:prstGeom prst="rect">
            <a:avLst/>
          </a:prstGeom>
          <a:solidFill>
            <a:srgbClr val="3A44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ibbon rule"/>
          <p:cNvSpPr/>
          <p:nvPr/>
        </p:nvSpPr>
        <p:spPr>
          <a:xfrm>
            <a:off x="5400000" y="13230000"/>
            <a:ext cx="504000" cy="21600"/>
          </a:xfrm>
          <a:prstGeom prst="rect">
            <a:avLst/>
          </a:prstGeom>
          <a:solidFill>
            <a:srgbClr val="3A44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ibbon rule"/>
          <p:cNvSpPr/>
          <p:nvPr/>
        </p:nvSpPr>
        <p:spPr>
          <a:xfrm>
            <a:off x="8208000" y="13230000"/>
            <a:ext cx="576000" cy="21600"/>
          </a:xfrm>
          <a:prstGeom prst="rect">
            <a:avLst/>
          </a:prstGeom>
          <a:solidFill>
            <a:srgbClr val="3A44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ibbon note"/>
          <p:cNvSpPr txBox="1"/>
          <p:nvPr/>
        </p:nvSpPr>
        <p:spPr>
          <a:xfrm>
            <a:off x="468000" y="13374000"/>
            <a:ext cx="9756000" cy="360000"/>
          </a:xfrm>
          <a:prstGeom prst="rect">
            <a:avLst/>
          </a:prstGeom>
          <a:noFill/>
        </p:spPr>
        <p:txBody>
          <a:bodyPr wrap="square" lIns="0" rIns="0" tIns="0" bIns="0">
            <a:spAutoFit/>
          </a:bodyPr>
          <a:lstStyle/>
          <a:p>
            <a:pPr algn="l">
              <a:lnSpc>
                <a:spcPct val="124000"/>
              </a:lnSpc>
            </a:pPr>
            <a:r>
              <a:rPr sz="1100" b="0">
                <a:solidFill>
                  <a:srgbClr val="AEB6BC"/>
                </a:solidFill>
                <a:latin typeface="Arial"/>
              </a:rPr>
              <a:t>Tyumen's gauge zero sits </a:t>
            </a:r>
            <a:r>
              <a:rPr sz="1100" b="1">
                <a:solidFill>
                  <a:srgbClr val="FFFFFF"/>
                </a:solidFill>
                <a:latin typeface="Arial"/>
              </a:rPr>
              <a:t>48.5 m above sea level</a:t>
            </a:r>
            <a:r>
              <a:rPr sz="1100" b="0">
                <a:solidFill>
                  <a:srgbClr val="AEB6BC"/>
                </a:solidFill>
                <a:latin typeface="Arial"/>
              </a:rPr>
              <a:t>, and the water that came over the embankment still has the Tobol, the Irtysh and the Ob to cross before it reaches the Arctic. Two continents, one habit: keep the oldest streets up on the bank, then build downhill.</a:t>
            </a:r>
          </a:p>
        </p:txBody>
      </p:sp>
      <p:sp>
        <p:nvSpPr>
          <p:cNvPr id="50" name="footer"/>
          <p:cNvSpPr txBox="1"/>
          <p:nvPr/>
        </p:nvSpPr>
        <p:spPr>
          <a:xfrm>
            <a:off x="468000" y="13932000"/>
            <a:ext cx="3132000" cy="720000"/>
          </a:xfrm>
          <a:prstGeom prst="rect">
            <a:avLst/>
          </a:prstGeom>
          <a:noFill/>
        </p:spPr>
        <p:txBody>
          <a:bodyPr wrap="square" lIns="0" rIns="0" tIns="0" bIns="0">
            <a:spAutoFit/>
          </a:bodyPr>
          <a:lstStyle/>
          <a:p>
            <a:pPr algn="l">
              <a:lnSpc>
                <a:spcPct val="122000"/>
              </a:lnSpc>
            </a:pPr>
            <a:r>
              <a:rPr sz="1100" b="1">
                <a:solidFill>
                  <a:srgbClr val="10161C"/>
                </a:solidFill>
                <a:latin typeface="Arial"/>
              </a:rPr>
              <a:t>Method. </a:t>
            </a:r>
            <a:r>
              <a:rPr sz="1100" b="0">
                <a:solidFill>
                  <a:srgbClr val="6E777E"/>
                </a:solidFill>
                <a:latin typeface="Arial"/>
              </a:rPr>
              <a:t>Sentinel-2 L2A (10 m), 18 June and 29 July 2026. MNDWI (Xu, 2006) constrained by elevation and by connectivity to the channel. Terrain: Copernicus DEM GLO-30, 5 m sampling.</a:t>
            </a:r>
          </a:p>
        </p:txBody>
      </p:sp>
      <p:sp>
        <p:nvSpPr>
          <p:cNvPr id="51" name="footer"/>
          <p:cNvSpPr txBox="1"/>
          <p:nvPr/>
        </p:nvSpPr>
        <p:spPr>
          <a:xfrm>
            <a:off x="3780000" y="13932000"/>
            <a:ext cx="3132000" cy="720000"/>
          </a:xfrm>
          <a:prstGeom prst="rect">
            <a:avLst/>
          </a:prstGeom>
          <a:noFill/>
        </p:spPr>
        <p:txBody>
          <a:bodyPr wrap="square" lIns="0" rIns="0" tIns="0" bIns="0">
            <a:spAutoFit/>
          </a:bodyPr>
          <a:lstStyle/>
          <a:p>
            <a:pPr algn="l">
              <a:lnSpc>
                <a:spcPct val="122000"/>
              </a:lnSpc>
            </a:pPr>
            <a:r>
              <a:rPr sz="1100" b="1">
                <a:solidFill>
                  <a:srgbClr val="10161C"/>
                </a:solidFill>
                <a:latin typeface="Arial"/>
              </a:rPr>
              <a:t>Limits. </a:t>
            </a:r>
            <a:r>
              <a:rPr sz="1100" b="0">
                <a:solidFill>
                  <a:srgbClr val="6E777E"/>
                </a:solidFill>
                <a:latin typeface="Arial"/>
              </a:rPr>
              <a:t>GLO-30 is a surface model — rooftops, not bare earth — so no flood depth is modelled for Shrewsbury. The Tyumen figures are a lower bound: the image precedes the peak.</a:t>
            </a:r>
          </a:p>
        </p:txBody>
      </p:sp>
      <p:sp>
        <p:nvSpPr>
          <p:cNvPr id="52" name="footer"/>
          <p:cNvSpPr txBox="1"/>
          <p:nvPr/>
        </p:nvSpPr>
        <p:spPr>
          <a:xfrm>
            <a:off x="7092000" y="13932000"/>
            <a:ext cx="3132000" cy="720000"/>
          </a:xfrm>
          <a:prstGeom prst="rect">
            <a:avLst/>
          </a:prstGeom>
          <a:noFill/>
        </p:spPr>
        <p:txBody>
          <a:bodyPr wrap="square" lIns="0" rIns="0" tIns="0" bIns="0">
            <a:spAutoFit/>
          </a:bodyPr>
          <a:lstStyle/>
          <a:p>
            <a:pPr algn="l">
              <a:lnSpc>
                <a:spcPct val="122000"/>
              </a:lnSpc>
            </a:pPr>
            <a:r>
              <a:rPr sz="1100" b="1">
                <a:solidFill>
                  <a:srgbClr val="10161C"/>
                </a:solidFill>
                <a:latin typeface="Arial"/>
              </a:rPr>
              <a:t>Sasha Ostriagin</a:t>
            </a:r>
            <a:r>
              <a:rPr sz="1100" b="0">
                <a:solidFill>
                  <a:srgbClr val="6E777E"/>
                </a:solidFill>
                <a:latin typeface="Arial"/>
              </a:rPr>
              <a:t>, Bromsgrove School. I filled sandbags on the north bank for two days as the water came up. Code, data and QGIS project are public.</a:t>
            </a:r>
          </a:p>
        </p:txBody>
      </p:sp>
      <p:sp>
        <p:nvSpPr>
          <p:cNvPr id="53" name="sources"/>
          <p:cNvSpPr txBox="1"/>
          <p:nvPr/>
        </p:nvSpPr>
        <p:spPr>
          <a:xfrm>
            <a:off x="468000" y="14778000"/>
            <a:ext cx="9756000" cy="324000"/>
          </a:xfrm>
          <a:prstGeom prst="rect">
            <a:avLst/>
          </a:prstGeom>
          <a:noFill/>
        </p:spPr>
        <p:txBody>
          <a:bodyPr wrap="square" lIns="0" rIns="0" tIns="0" bIns="0">
            <a:spAutoFit/>
          </a:bodyPr>
          <a:lstStyle/>
          <a:p>
            <a:pPr algn="l">
              <a:lnSpc>
                <a:spcPct val="122000"/>
              </a:lnSpc>
            </a:pPr>
            <a:r>
              <a:rPr sz="1100" b="0">
                <a:solidFill>
                  <a:srgbClr val="6E777E"/>
                </a:solidFill>
                <a:latin typeface="Arial"/>
              </a:rPr>
              <a:t>Sources: Copernicus (ESA) · OpenStreetMap · WorldPop · Shropshire Council Welsh Bridge gauge board · Environment Agency NaFRA 2024.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