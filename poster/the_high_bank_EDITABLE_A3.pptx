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 — paper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 — teal disc (movable)"/>
          <p:cNvSpPr/>
          <p:nvPr/>
        </p:nvSpPr>
        <p:spPr>
          <a:xfrm>
            <a:off x="8496000" y="5328000"/>
            <a:ext cx="4752000" cy="4752000"/>
          </a:xfrm>
          <a:prstGeom prst="ellipse">
            <a:avLst/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eyebrow"/>
          <p:cNvSpPr txBox="1"/>
          <p:nvPr/>
        </p:nvSpPr>
        <p:spPr>
          <a:xfrm>
            <a:off x="504000" y="432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D7C85"/>
                </a:solidFill>
                <a:latin typeface="Arial"/>
              </a:rPr>
              <a:t>FROM SOURCE TO SEA  ·  YOUNG GEOGRAPHER OF THE YEAR 2026  ·  KEY STAGE 5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68000" y="648000"/>
            <a:ext cx="7200000" cy="12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200" b="0" i="0">
                <a:solidFill>
                  <a:srgbClr val="22303A"/>
                </a:solidFill>
                <a:latin typeface="Arial Black"/>
              </a:rPr>
              <a:t>THE HIGH BANK</a:t>
            </a:r>
          </a:p>
        </p:txBody>
      </p:sp>
      <p:sp>
        <p:nvSpPr>
          <p:cNvPr id="6" name="DECOR — title marker dot"/>
          <p:cNvSpPr/>
          <p:nvPr/>
        </p:nvSpPr>
        <p:spPr>
          <a:xfrm>
            <a:off x="486000" y="1926000"/>
            <a:ext cx="252000" cy="252000"/>
          </a:xfrm>
          <a:prstGeom prst="ellipse">
            <a:avLst/>
          </a:prstGeom>
          <a:solidFill>
            <a:srgbClr val="A97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eck"/>
          <p:cNvSpPr txBox="1"/>
          <p:nvPr/>
        </p:nvSpPr>
        <p:spPr>
          <a:xfrm>
            <a:off x="936000" y="1908000"/>
            <a:ext cx="720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303A"/>
                </a:solidFill>
                <a:latin typeface="Georgia"/>
              </a:rPr>
              <a:t>Tyumen was founded in 1586 on the steep southern bank of the Tura and left the low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2303A"/>
                </a:solidFill>
                <a:latin typeface="Georgia"/>
              </a:rPr>
              <a:t>northern bank alone. Every old town chose a side of its river.</a:t>
            </a:r>
          </a:p>
        </p:txBody>
      </p:sp>
      <p:sp>
        <p:nvSpPr>
          <p:cNvPr id="8" name="the question"/>
          <p:cNvSpPr txBox="1"/>
          <p:nvPr/>
        </p:nvSpPr>
        <p:spPr>
          <a:xfrm>
            <a:off x="936000" y="2448000"/>
            <a:ext cx="720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9761F"/>
                </a:solidFill>
                <a:latin typeface="Georgia"/>
              </a:rPr>
              <a:t>Four hundred and forty years on, does that choice still decide who floods?</a:t>
            </a:r>
          </a:p>
        </p:txBody>
      </p:sp>
      <p:sp>
        <p:nvSpPr>
          <p:cNvPr id="9" name="byline"/>
          <p:cNvSpPr txBox="1"/>
          <p:nvPr/>
        </p:nvSpPr>
        <p:spPr>
          <a:xfrm>
            <a:off x="7740000" y="432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22303A"/>
                </a:solidFill>
                <a:latin typeface="Arial"/>
              </a:rPr>
              <a:t>SASHA OSTRIAGIN</a:t>
            </a:r>
          </a:p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22303A"/>
                </a:solidFill>
                <a:latin typeface="Arial"/>
              </a:rPr>
              <a:t>Bromsgrove School</a:t>
            </a:r>
          </a:p>
        </p:txBody>
      </p:sp>
      <p:sp>
        <p:nvSpPr>
          <p:cNvPr id="10" name="heading — profile"/>
          <p:cNvSpPr txBox="1"/>
          <p:nvPr/>
        </p:nvSpPr>
        <p:spPr>
          <a:xfrm>
            <a:off x="504000" y="2952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303A"/>
                </a:solidFill>
                <a:latin typeface="Arial Black"/>
              </a:rPr>
              <a:t>2,000 KILOMETRES TO FALL 48 METRES</a:t>
            </a:r>
          </a:p>
        </p:txBody>
      </p:sp>
      <p:pic>
        <p:nvPicPr>
          <p:cNvPr id="11" name="IMAGE — long profile" descr="l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240000"/>
            <a:ext cx="9828000" cy="2268000"/>
          </a:xfrm>
          <a:prstGeom prst="rect">
            <a:avLst/>
          </a:prstGeom>
        </p:spPr>
      </p:pic>
      <p:sp>
        <p:nvSpPr>
          <p:cNvPr id="12" name="heading — evidence"/>
          <p:cNvSpPr txBox="1"/>
          <p:nvPr/>
        </p:nvSpPr>
        <p:spPr>
          <a:xfrm>
            <a:off x="504000" y="5472000"/>
            <a:ext cx="86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7432A"/>
                </a:solidFill>
                <a:latin typeface="Arial Black"/>
              </a:rPr>
              <a:t>TWO DAYS BEFORE THE PEAK</a:t>
            </a:r>
          </a:p>
        </p:txBody>
      </p:sp>
      <p:sp>
        <p:nvSpPr>
          <p:cNvPr id="13" name="heading — evidence sub"/>
          <p:cNvSpPr txBox="1"/>
          <p:nvPr/>
        </p:nvSpPr>
        <p:spPr>
          <a:xfrm>
            <a:off x="4320000" y="5508000"/>
            <a:ext cx="5940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8464F"/>
                </a:solidFill>
                <a:latin typeface="Georgia"/>
              </a:rPr>
              <a:t>what Sentinel-2 saw over 2.9 km of the Tura</a:t>
            </a:r>
          </a:p>
        </p:txBody>
      </p:sp>
      <p:pic>
        <p:nvPicPr>
          <p:cNvPr id="14" name="IMAGE — flood 29 July (circle)" descr="sq_fl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6048000"/>
            <a:ext cx="3888000" cy="3888000"/>
          </a:xfrm>
          <a:prstGeom prst="ellipse">
            <a:avLst/>
          </a:prstGeom>
          <a:ln w="28575">
            <a:solidFill>
              <a:srgbClr val="22303A"/>
            </a:solidFill>
          </a:ln>
        </p:spPr>
      </p:pic>
      <p:pic>
        <p:nvPicPr>
          <p:cNvPr id="15" name="IMAGE — before 18 June (circle)" descr="sq_p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00" y="5796000"/>
            <a:ext cx="2088000" cy="2088000"/>
          </a:xfrm>
          <a:prstGeom prst="ellipse">
            <a:avLst/>
          </a:prstGeom>
          <a:ln w="28575">
            <a:solidFill>
              <a:srgbClr val="22303A"/>
            </a:solidFill>
          </a:ln>
        </p:spPr>
      </p:pic>
      <p:sp>
        <p:nvSpPr>
          <p:cNvPr id="16" name="label — flood"/>
          <p:cNvSpPr txBox="1"/>
          <p:nvPr/>
        </p:nvSpPr>
        <p:spPr>
          <a:xfrm>
            <a:off x="1620000" y="10008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7432A"/>
                </a:solidFill>
                <a:latin typeface="Arial"/>
              </a:rPr>
              <a:t>29 JULY 2026  ·  FLOOD</a:t>
            </a:r>
          </a:p>
        </p:txBody>
      </p:sp>
      <p:sp>
        <p:nvSpPr>
          <p:cNvPr id="17" name="label — before"/>
          <p:cNvSpPr txBox="1"/>
          <p:nvPr/>
        </p:nvSpPr>
        <p:spPr>
          <a:xfrm>
            <a:off x="5004000" y="7956000"/>
            <a:ext cx="208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0E7C86"/>
                </a:solidFill>
                <a:latin typeface="Arial"/>
              </a:rPr>
              <a:t>18 JUNE 2026  ·  BEFORE</a:t>
            </a:r>
          </a:p>
        </p:txBody>
      </p:sp>
      <p:sp>
        <p:nvSpPr>
          <p:cNvPr id="18" name="STAT — 3x disc"/>
          <p:cNvSpPr/>
          <p:nvPr/>
        </p:nvSpPr>
        <p:spPr>
          <a:xfrm>
            <a:off x="7272000" y="6120000"/>
            <a:ext cx="1872000" cy="1872000"/>
          </a:xfrm>
          <a:prstGeom prst="ellipse">
            <a:avLst/>
          </a:prstGeom>
          <a:solidFill>
            <a:srgbClr val="F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AT — 3x disc — label"/>
          <p:cNvSpPr txBox="1"/>
          <p:nvPr/>
        </p:nvSpPr>
        <p:spPr>
          <a:xfrm>
            <a:off x="7272000" y="6531840"/>
            <a:ext cx="1872000" cy="93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>
                <a:solidFill>
                  <a:srgbClr val="C7432A"/>
                </a:solidFill>
                <a:latin typeface="Arial Black"/>
              </a:rPr>
              <a:t>3×</a:t>
            </a:r>
          </a:p>
          <a:p>
            <a:pPr algn="ctr"/>
            <a:r>
              <a:rPr sz="1000">
                <a:solidFill>
                  <a:srgbClr val="22303A"/>
                </a:solidFill>
                <a:latin typeface="Arial"/>
              </a:rPr>
              <a:t>the river's footprint
at the peak</a:t>
            </a:r>
          </a:p>
        </p:txBody>
      </p:sp>
      <p:sp>
        <p:nvSpPr>
          <p:cNvPr id="20" name="evidence text"/>
          <p:cNvSpPr txBox="1"/>
          <p:nvPr/>
        </p:nvSpPr>
        <p:spPr>
          <a:xfrm>
            <a:off x="7344000" y="8208000"/>
            <a:ext cx="2952000" cy="15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>The gauge read 891 cm on 31 July — the highest ever recorded there.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>Water was mapped with MNDWI and then constrained by terrain, so a pixel counts as flood only where the ground also lies below the flood level and connects to the channel.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>The 29 July pass is two days before the peak — every number here is a lower bound.</a:t>
            </a:r>
          </a:p>
        </p:txBody>
      </p:sp>
      <p:sp>
        <p:nvSpPr>
          <p:cNvPr id="21" name="caption — circles"/>
          <p:cNvSpPr txBox="1"/>
          <p:nvPr/>
        </p:nvSpPr>
        <p:spPr>
          <a:xfrm>
            <a:off x="504000" y="10224000"/>
            <a:ext cx="43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D7C85"/>
                </a:solidFill>
                <a:latin typeface="Georgia"/>
              </a:rPr>
              <a:t>Orange: water on 29 July.  Teal: the normal channel.</a:t>
            </a:r>
          </a:p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D7C85"/>
                </a:solidFill>
                <a:latin typeface="Georgia"/>
              </a:rPr>
              <a:t>On the north bank the flood is across the streets.</a:t>
            </a:r>
          </a:p>
        </p:txBody>
      </p:sp>
      <p:sp>
        <p:nvSpPr>
          <p:cNvPr id="22" name="heading — cross-section"/>
          <p:cNvSpPr txBox="1"/>
          <p:nvPr/>
        </p:nvSpPr>
        <p:spPr>
          <a:xfrm>
            <a:off x="504000" y="10728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303A"/>
                </a:solidFill>
                <a:latin typeface="Arial Black"/>
              </a:rPr>
              <a:t>NOW TURN THE RIVER NINETY DEGREES</a:t>
            </a:r>
          </a:p>
        </p:txBody>
      </p:sp>
      <p:pic>
        <p:nvPicPr>
          <p:cNvPr id="23" name="IMAGE — cross-section" descr="lt_xs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11016000"/>
            <a:ext cx="9828000" cy="1558440"/>
          </a:xfrm>
          <a:prstGeom prst="rect">
            <a:avLst/>
          </a:prstGeom>
        </p:spPr>
      </p:pic>
      <p:sp>
        <p:nvSpPr>
          <p:cNvPr id="24" name="heading — finding"/>
          <p:cNvSpPr txBox="1"/>
          <p:nvPr/>
        </p:nvSpPr>
        <p:spPr>
          <a:xfrm>
            <a:off x="504000" y="12672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303A"/>
                </a:solidFill>
                <a:latin typeface="Arial Black"/>
              </a:rPr>
              <a:t>TWO BANKS, FOUR HUNDRED METRES APART — FORTY TIMES THE RISK</a:t>
            </a:r>
          </a:p>
        </p:txBody>
      </p:sp>
      <p:sp>
        <p:nvSpPr>
          <p:cNvPr id="25" name="STAT — north disc"/>
          <p:cNvSpPr/>
          <p:nvPr/>
        </p:nvSpPr>
        <p:spPr>
          <a:xfrm>
            <a:off x="540000" y="12924000"/>
            <a:ext cx="1656000" cy="1656000"/>
          </a:xfrm>
          <a:prstGeom prst="ellipse">
            <a:avLst/>
          </a:prstGeom>
          <a:solidFill>
            <a:srgbClr val="FA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AT — north disc — label"/>
          <p:cNvSpPr txBox="1"/>
          <p:nvPr/>
        </p:nvSpPr>
        <p:spPr>
          <a:xfrm>
            <a:off x="540000" y="13288320"/>
            <a:ext cx="1656000" cy="82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>
                <a:solidFill>
                  <a:srgbClr val="C7432A"/>
                </a:solidFill>
                <a:latin typeface="Arial Black"/>
              </a:rPr>
              <a:t>16.8%</a:t>
            </a:r>
          </a:p>
          <a:p>
            <a:pPr algn="ctr"/>
            <a:r>
              <a:rPr sz="1000">
                <a:solidFill>
                  <a:srgbClr val="22303A"/>
                </a:solidFill>
                <a:latin typeface="Arial"/>
              </a:rPr>
              <a:t>of north-bank buildings
flooded  (120 of 716)</a:t>
            </a:r>
          </a:p>
        </p:txBody>
      </p:sp>
      <p:sp>
        <p:nvSpPr>
          <p:cNvPr id="27" name="STAT — south disc"/>
          <p:cNvSpPr/>
          <p:nvPr/>
        </p:nvSpPr>
        <p:spPr>
          <a:xfrm>
            <a:off x="2628000" y="12924000"/>
            <a:ext cx="1656000" cy="1656000"/>
          </a:xfrm>
          <a:prstGeom prst="ellipse">
            <a:avLst/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AT — south disc — label"/>
          <p:cNvSpPr txBox="1"/>
          <p:nvPr/>
        </p:nvSpPr>
        <p:spPr>
          <a:xfrm>
            <a:off x="2628000" y="13288320"/>
            <a:ext cx="1656000" cy="82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3000">
                <a:solidFill>
                  <a:srgbClr val="0E7C86"/>
                </a:solidFill>
                <a:latin typeface="Arial Black"/>
              </a:rPr>
              <a:t>0.4%</a:t>
            </a:r>
          </a:p>
          <a:p>
            <a:pPr algn="ctr"/>
            <a:r>
              <a:rPr sz="1000">
                <a:solidFill>
                  <a:srgbClr val="22303A"/>
                </a:solidFill>
                <a:latin typeface="Arial"/>
              </a:rPr>
              <a:t>of south-bank buildings
flooded  (18 of 4,437)</a:t>
            </a:r>
          </a:p>
        </p:txBody>
      </p:sp>
      <p:sp>
        <p:nvSpPr>
          <p:cNvPr id="29" name="finding numbers"/>
          <p:cNvSpPr txBox="1"/>
          <p:nvPr/>
        </p:nvSpPr>
        <p:spPr>
          <a:xfrm>
            <a:off x="4608000" y="13068000"/>
            <a:ext cx="28080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>North bank:  391 ha flooded, ~5,080 people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>South bank:  24 ha flooded, ~560 people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8464F"/>
                </a:solidFill>
                <a:latin typeface="Georgia"/>
              </a:rPr>
              <a:t>The south bank holds six times more buildings — almost none went under.</a:t>
            </a:r>
          </a:p>
        </p:txBody>
      </p:sp>
      <p:sp>
        <p:nvSpPr>
          <p:cNvPr id="30" name="SHAPE — verdict (rounded)"/>
          <p:cNvSpPr/>
          <p:nvPr/>
        </p:nvSpPr>
        <p:spPr>
          <a:xfrm>
            <a:off x="7488000" y="12960000"/>
            <a:ext cx="2772000" cy="1224000"/>
          </a:xfrm>
          <a:prstGeom prst="roundRect">
            <a:avLst>
              <a:gd name="adj" fmla="val 28000"/>
            </a:avLst>
          </a:prstGeom>
          <a:solidFill>
            <a:srgbClr val="E2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90000"/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A THRESHOLD, NOT A BOUNDARY
</a:t>
            </a:r>
            <a:r>
              <a:rPr sz="1050">
                <a:solidFill>
                  <a:srgbClr val="38464F"/>
                </a:solidFill>
                <a:latin typeface="Georgia"/>
              </a:rPr>
              <a:t>The north-bank “second tier”, never flooded in living memory, went under too. The 1586 logic is not a wall — it is a gradient, and 2026 found its height.</a:t>
            </a:r>
          </a:p>
        </p:txBody>
      </p:sp>
      <p:sp>
        <p:nvSpPr>
          <p:cNvPr id="31" name="SHAPE — UK relevance panel"/>
          <p:cNvSpPr/>
          <p:nvPr/>
        </p:nvSpPr>
        <p:spPr>
          <a:xfrm>
            <a:off x="432000" y="14148000"/>
            <a:ext cx="9828000" cy="684000"/>
          </a:xfrm>
          <a:prstGeom prst="roundRect">
            <a:avLst>
              <a:gd name="adj" fmla="val 18000"/>
            </a:avLst>
          </a:prstGeom>
          <a:solidFill>
            <a:srgbClr val="F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ading — UK"/>
          <p:cNvSpPr txBox="1"/>
          <p:nvPr/>
        </p:nvSpPr>
        <p:spPr>
          <a:xfrm>
            <a:off x="576000" y="14256000"/>
            <a:ext cx="3312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7A3B57"/>
                </a:solidFill>
                <a:latin typeface="Arial Black"/>
              </a:rPr>
              <a:t>THIS IS NOT ONLY A SIBERIAN PROBLEM</a:t>
            </a:r>
          </a:p>
        </p:txBody>
      </p:sp>
      <p:sp>
        <p:nvSpPr>
          <p:cNvPr id="33" name="UK text"/>
          <p:cNvSpPr txBox="1"/>
          <p:nvPr/>
        </p:nvSpPr>
        <p:spPr>
          <a:xfrm>
            <a:off x="4032000" y="14238000"/>
            <a:ext cx="612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8464F"/>
                </a:solidFill>
                <a:latin typeface="Georgia"/>
              </a:rPr>
              <a:t>Tewkesbury's settlers used the “natural rises in the land” to avoid flooding — the modern town around the abbey flooded in 2007. Shrewsbury's medieval core sits in a defensive meander that now holds water against it.  6.3 million English properties are in flood-risk areas today; potentially 8 million — one in four — by mid-century.</a:t>
            </a:r>
          </a:p>
        </p:txBody>
      </p:sp>
      <p:sp>
        <p:nvSpPr>
          <p:cNvPr id="34" name="footer"/>
          <p:cNvSpPr txBox="1"/>
          <p:nvPr/>
        </p:nvSpPr>
        <p:spPr>
          <a:xfrm>
            <a:off x="504000" y="14922000"/>
            <a:ext cx="9828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D7C85"/>
                </a:solidFill>
                <a:latin typeface="Arial"/>
              </a:rPr>
              <a:t>METHOD  Sentinel-2 L2A 18 Jun &amp; 29 Jul 2026 · MNDWI constrained by Copernicus DEM GLO-30 · OSM · WorldPop   |   CREDITS  Copernicus/ESA · © OpenStreetMap contributors · WorldPop · Environment Agency NaFRA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