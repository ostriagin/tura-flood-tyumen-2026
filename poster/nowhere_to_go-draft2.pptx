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5119350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503"/>
    <p:restoredTop sz="94707"/>
  </p:normalViewPr>
  <p:slideViewPr>
    <p:cSldViewPr snapToGrid="0" snapToObjects="1">
      <p:cViewPr>
        <p:scale>
          <a:sx n="76" d="100"/>
          <a:sy n="76" d="100"/>
        </p:scale>
        <p:origin x="72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1E6FC4-817B-C749-ADBE-6A1BBF2C46C1}" type="datetimeFigureOut">
              <a:rPr lang="en-US" smtClean="0"/>
              <a:t>9/29/26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143000"/>
            <a:ext cx="4365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317D02-3829-4B41-BAC5-474F6A2B66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3965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317D02-3829-4B41-BAC5-474F6A2B668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66558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jpg"/><Relationship Id="rId7" Type="http://schemas.openxmlformats.org/officeDocument/2006/relationships/image" Target="../media/image5.jpg"/><Relationship Id="rId8" Type="http://schemas.openxmlformats.org/officeDocument/2006/relationships/image" Target="../media/image6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 — hazard yellow"/>
          <p:cNvSpPr/>
          <p:nvPr/>
        </p:nvSpPr>
        <p:spPr>
          <a:xfrm>
            <a:off x="0" y="0"/>
            <a:ext cx="15120000" cy="10691813"/>
          </a:xfrm>
          <a:prstGeom prst="rect">
            <a:avLst/>
          </a:prstGeom>
          <a:solidFill>
            <a:srgbClr val="FDF4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hazard rule (decoration)" descr="rule_stri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5120000" cy="39600"/>
          </a:xfrm>
          <a:prstGeom prst="rect">
            <a:avLst/>
          </a:prstGeom>
        </p:spPr>
      </p:pic>
      <p:sp>
        <p:nvSpPr>
          <p:cNvPr id="5" name="TITLE"/>
          <p:cNvSpPr txBox="1"/>
          <p:nvPr/>
        </p:nvSpPr>
        <p:spPr>
          <a:xfrm>
            <a:off x="108000" y="169200"/>
            <a:ext cx="2304000" cy="79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1" dirty="0">
                <a:solidFill>
                  <a:srgbClr val="14181C"/>
                </a:solidFill>
                <a:latin typeface="Arial Black"/>
              </a:rPr>
              <a:t>NOWHERE</a:t>
            </a:r>
          </a:p>
          <a:p>
            <a:pPr algn="l">
              <a:lnSpc>
                <a:spcPct val="95000"/>
              </a:lnSpc>
            </a:pPr>
            <a:r>
              <a:rPr sz="2600" b="1" dirty="0">
                <a:solidFill>
                  <a:srgbClr val="D92B1E"/>
                </a:solidFill>
                <a:latin typeface="Arial Black"/>
              </a:rPr>
              <a:t>TO GO</a:t>
            </a:r>
          </a:p>
        </p:txBody>
      </p:sp>
      <p:sp>
        <p:nvSpPr>
          <p:cNvPr id="6" name="standfirst"/>
          <p:cNvSpPr txBox="1"/>
          <p:nvPr/>
        </p:nvSpPr>
        <p:spPr>
          <a:xfrm>
            <a:off x="2223360" y="313200"/>
            <a:ext cx="10332000" cy="77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30" b="0" dirty="0">
                <a:solidFill>
                  <a:srgbClr val="14181C"/>
                </a:solidFill>
                <a:latin typeface="Arial"/>
              </a:rPr>
              <a:t>The </a:t>
            </a:r>
            <a:r>
              <a:rPr sz="1130" b="1" dirty="0">
                <a:solidFill>
                  <a:srgbClr val="14181C"/>
                </a:solidFill>
                <a:latin typeface="Arial"/>
              </a:rPr>
              <a:t>Tura</a:t>
            </a:r>
            <a:r>
              <a:rPr sz="1130" b="0" dirty="0">
                <a:solidFill>
                  <a:srgbClr val="14181C"/>
                </a:solidFill>
                <a:latin typeface="Arial"/>
              </a:rPr>
              <a:t> rises at 370 m in the Ural mountains and flows east past </a:t>
            </a:r>
            <a:r>
              <a:rPr sz="1130" b="1" dirty="0">
                <a:solidFill>
                  <a:srgbClr val="14181C"/>
                </a:solidFill>
                <a:latin typeface="Arial"/>
              </a:rPr>
              <a:t>Tyumen</a:t>
            </a:r>
            <a:r>
              <a:rPr sz="1130" b="0" dirty="0">
                <a:solidFill>
                  <a:srgbClr val="14181C"/>
                </a:solidFill>
                <a:latin typeface="Arial"/>
              </a:rPr>
              <a:t>, my home city, into the </a:t>
            </a:r>
            <a:r>
              <a:rPr sz="1130" b="1" dirty="0">
                <a:solidFill>
                  <a:srgbClr val="14181C"/>
                </a:solidFill>
                <a:latin typeface="Arial"/>
              </a:rPr>
              <a:t>Tobol</a:t>
            </a:r>
            <a:r>
              <a:rPr sz="1130" b="0" dirty="0">
                <a:solidFill>
                  <a:srgbClr val="14181C"/>
                </a:solidFill>
                <a:latin typeface="Arial"/>
              </a:rPr>
              <a:t>. The Tobol flows into the </a:t>
            </a:r>
            <a:r>
              <a:rPr sz="1130" b="1" dirty="0">
                <a:solidFill>
                  <a:srgbClr val="14181C"/>
                </a:solidFill>
                <a:latin typeface="Arial"/>
              </a:rPr>
              <a:t>Irtysh</a:t>
            </a:r>
            <a:r>
              <a:rPr sz="1130" b="0" dirty="0">
                <a:solidFill>
                  <a:srgbClr val="14181C"/>
                </a:solidFill>
                <a:latin typeface="Arial"/>
              </a:rPr>
              <a:t>, and the Irtysh into the </a:t>
            </a:r>
            <a:r>
              <a:rPr sz="1130" b="1" dirty="0">
                <a:solidFill>
                  <a:srgbClr val="14181C"/>
                </a:solidFill>
                <a:latin typeface="Arial"/>
              </a:rPr>
              <a:t>Ob</a:t>
            </a:r>
            <a:r>
              <a:rPr sz="1130" b="0" dirty="0">
                <a:solidFill>
                  <a:srgbClr val="14181C"/>
                </a:solidFill>
                <a:latin typeface="Arial"/>
              </a:rPr>
              <a:t>, which carries all of it north to the Kara Sea in the Arctic — four rivers, one journey from source to sea. </a:t>
            </a:r>
            <a:r>
              <a:rPr sz="1130" b="1" dirty="0">
                <a:solidFill>
                  <a:srgbClr val="14181C"/>
                </a:solidFill>
                <a:latin typeface="Arial"/>
              </a:rPr>
              <a:t>It does four-fifths of its falling in the first 98 km.</a:t>
            </a:r>
            <a:r>
              <a:rPr sz="1130" b="0" dirty="0">
                <a:solidFill>
                  <a:srgbClr val="14181C"/>
                </a:solidFill>
                <a:latin typeface="Arial"/>
              </a:rPr>
              <a:t> After that it drops </a:t>
            </a:r>
            <a:r>
              <a:rPr lang="en-US" sz="1130" dirty="0">
                <a:solidFill>
                  <a:srgbClr val="14181C"/>
                </a:solidFill>
                <a:latin typeface="Arial"/>
              </a:rPr>
              <a:t>5cm/km </a:t>
            </a:r>
            <a:r>
              <a:rPr sz="1130" b="0" dirty="0">
                <a:solidFill>
                  <a:srgbClr val="14181C"/>
                </a:solidFill>
                <a:latin typeface="Arial"/>
              </a:rPr>
              <a:t>— </a:t>
            </a:r>
            <a:r>
              <a:rPr lang="en-GB" sz="1130" b="0" dirty="0">
                <a:solidFill>
                  <a:srgbClr val="14181C"/>
                </a:solidFill>
                <a:latin typeface="Arial"/>
              </a:rPr>
              <a:t>so,</a:t>
            </a:r>
            <a:r>
              <a:rPr sz="1130" b="0" dirty="0">
                <a:solidFill>
                  <a:srgbClr val="14181C"/>
                </a:solidFill>
                <a:latin typeface="Arial"/>
              </a:rPr>
              <a:t> when the water rises it cannot </a:t>
            </a:r>
            <a:r>
              <a:rPr lang="en-US" sz="1130" b="0" dirty="0">
                <a:solidFill>
                  <a:srgbClr val="14181C"/>
                </a:solidFill>
                <a:latin typeface="Arial"/>
              </a:rPr>
              <a:t>flow </a:t>
            </a:r>
            <a:r>
              <a:rPr sz="1130" b="0" dirty="0">
                <a:solidFill>
                  <a:srgbClr val="14181C"/>
                </a:solidFill>
                <a:latin typeface="Arial"/>
              </a:rPr>
              <a:t>away downstream. It spreads. That is why half of Russia’s marshland is here, and why </a:t>
            </a:r>
            <a:r>
              <a:rPr sz="1130" b="1" dirty="0">
                <a:solidFill>
                  <a:srgbClr val="14181C"/>
                </a:solidFill>
                <a:latin typeface="Arial"/>
              </a:rPr>
              <a:t>Tyumen</a:t>
            </a:r>
            <a:r>
              <a:rPr sz="1130" b="0" dirty="0">
                <a:solidFill>
                  <a:srgbClr val="14181C"/>
                </a:solidFill>
                <a:latin typeface="Arial"/>
              </a:rPr>
              <a:t> went under in August 2026.</a:t>
            </a:r>
          </a:p>
        </p:txBody>
      </p:sp>
      <p:sp>
        <p:nvSpPr>
          <p:cNvPr id="7" name="byline"/>
          <p:cNvSpPr txBox="1"/>
          <p:nvPr/>
        </p:nvSpPr>
        <p:spPr>
          <a:xfrm>
            <a:off x="12689058" y="423000"/>
            <a:ext cx="1775742" cy="375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90" b="1" dirty="0">
                <a:solidFill>
                  <a:srgbClr val="14181C"/>
                </a:solidFill>
                <a:latin typeface="Arial"/>
              </a:rPr>
              <a:t>SASHA OSTRIAGIN</a:t>
            </a:r>
          </a:p>
          <a:p>
            <a:pPr algn="r">
              <a:lnSpc>
                <a:spcPct val="120000"/>
              </a:lnSpc>
            </a:pPr>
            <a:r>
              <a:rPr sz="1040" b="0" dirty="0">
                <a:solidFill>
                  <a:srgbClr val="6A6550"/>
                </a:solidFill>
                <a:latin typeface="Arial"/>
              </a:rPr>
              <a:t>Bromsgrove School</a:t>
            </a:r>
          </a:p>
        </p:txBody>
      </p:sp>
      <p:sp>
        <p:nvSpPr>
          <p:cNvPr id="8" name="term card — TYUMEN"/>
          <p:cNvSpPr/>
          <p:nvPr/>
        </p:nvSpPr>
        <p:spPr>
          <a:xfrm>
            <a:off x="360000" y="1166400"/>
            <a:ext cx="2815200" cy="48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rm edge — TYUMEN"/>
          <p:cNvSpPr/>
          <p:nvPr/>
        </p:nvSpPr>
        <p:spPr>
          <a:xfrm>
            <a:off x="360000" y="1166400"/>
            <a:ext cx="46800" cy="489600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rm — TYUMEN"/>
          <p:cNvSpPr txBox="1"/>
          <p:nvPr/>
        </p:nvSpPr>
        <p:spPr>
          <a:xfrm>
            <a:off x="464400" y="1213200"/>
            <a:ext cx="2664000" cy="39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40" b="1">
                <a:solidFill>
                  <a:srgbClr val="14181C"/>
                </a:solidFill>
                <a:latin typeface="Arial"/>
              </a:rPr>
              <a:t>TYUMEN</a:t>
            </a:r>
            <a:r>
              <a:rPr sz="1040" b="0">
                <a:solidFill>
                  <a:srgbClr val="6A6550"/>
                </a:solidFill>
                <a:latin typeface="Arial"/>
              </a:rPr>
              <a:t>  ·  city</a:t>
            </a:r>
          </a:p>
          <a:p>
            <a:pPr algn="l">
              <a:lnSpc>
                <a:spcPct val="118000"/>
              </a:lnSpc>
            </a:pPr>
            <a:r>
              <a:rPr sz="1040" b="0">
                <a:solidFill>
                  <a:srgbClr val="6A6550"/>
                </a:solidFill>
                <a:latin typeface="Arial"/>
              </a:rPr>
              <a:t>Oldest Russian city in Siberia, 1586.</a:t>
            </a:r>
          </a:p>
        </p:txBody>
      </p:sp>
      <p:sp>
        <p:nvSpPr>
          <p:cNvPr id="11" name="term card — TURA"/>
          <p:cNvSpPr/>
          <p:nvPr/>
        </p:nvSpPr>
        <p:spPr>
          <a:xfrm>
            <a:off x="3256200" y="1166400"/>
            <a:ext cx="2815200" cy="48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rm edge — TURA"/>
          <p:cNvSpPr/>
          <p:nvPr/>
        </p:nvSpPr>
        <p:spPr>
          <a:xfrm>
            <a:off x="3256200" y="1166400"/>
            <a:ext cx="46800" cy="489600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rm — TURA"/>
          <p:cNvSpPr txBox="1"/>
          <p:nvPr/>
        </p:nvSpPr>
        <p:spPr>
          <a:xfrm>
            <a:off x="3360600" y="1213200"/>
            <a:ext cx="2664000" cy="39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40" b="1">
                <a:solidFill>
                  <a:srgbClr val="14181C"/>
                </a:solidFill>
                <a:latin typeface="Arial"/>
              </a:rPr>
              <a:t>TURA</a:t>
            </a:r>
            <a:r>
              <a:rPr sz="1040" b="0">
                <a:solidFill>
                  <a:srgbClr val="6A6550"/>
                </a:solidFill>
                <a:latin typeface="Arial"/>
              </a:rPr>
              <a:t>  ·  river</a:t>
            </a:r>
          </a:p>
          <a:p>
            <a:pPr algn="l">
              <a:lnSpc>
                <a:spcPct val="118000"/>
              </a:lnSpc>
            </a:pPr>
            <a:r>
              <a:rPr sz="1040" b="0">
                <a:solidFill>
                  <a:srgbClr val="6A6550"/>
                </a:solidFill>
                <a:latin typeface="Arial"/>
              </a:rPr>
              <a:t>Tyumen’s river. 1,030 km, from the Urals.</a:t>
            </a:r>
          </a:p>
        </p:txBody>
      </p:sp>
      <p:sp>
        <p:nvSpPr>
          <p:cNvPr id="14" name="term card — TOBOL"/>
          <p:cNvSpPr/>
          <p:nvPr/>
        </p:nvSpPr>
        <p:spPr>
          <a:xfrm>
            <a:off x="6152400" y="1166400"/>
            <a:ext cx="2815200" cy="48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rm edge — TOBOL"/>
          <p:cNvSpPr/>
          <p:nvPr/>
        </p:nvSpPr>
        <p:spPr>
          <a:xfrm>
            <a:off x="6152400" y="1166400"/>
            <a:ext cx="46800" cy="489600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rm — TOBOL"/>
          <p:cNvSpPr txBox="1"/>
          <p:nvPr/>
        </p:nvSpPr>
        <p:spPr>
          <a:xfrm>
            <a:off x="6256800" y="1213200"/>
            <a:ext cx="2664000" cy="39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40" b="1">
                <a:solidFill>
                  <a:srgbClr val="14181C"/>
                </a:solidFill>
                <a:latin typeface="Arial"/>
              </a:rPr>
              <a:t>TOBOL</a:t>
            </a:r>
            <a:r>
              <a:rPr sz="1040" b="0">
                <a:solidFill>
                  <a:srgbClr val="6A6550"/>
                </a:solidFill>
                <a:latin typeface="Arial"/>
              </a:rPr>
              <a:t>  ·  river</a:t>
            </a:r>
          </a:p>
          <a:p>
            <a:pPr algn="l">
              <a:lnSpc>
                <a:spcPct val="118000"/>
              </a:lnSpc>
            </a:pPr>
            <a:r>
              <a:rPr sz="1040" b="0">
                <a:solidFill>
                  <a:srgbClr val="6A6550"/>
                </a:solidFill>
                <a:latin typeface="Arial"/>
              </a:rPr>
              <a:t>The river the Tura runs into. 1,591 km.</a:t>
            </a:r>
          </a:p>
        </p:txBody>
      </p:sp>
      <p:sp>
        <p:nvSpPr>
          <p:cNvPr id="17" name="term card — IRTYSH"/>
          <p:cNvSpPr/>
          <p:nvPr/>
        </p:nvSpPr>
        <p:spPr>
          <a:xfrm>
            <a:off x="9048600" y="1166400"/>
            <a:ext cx="2815200" cy="48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rm edge — IRTYSH"/>
          <p:cNvSpPr/>
          <p:nvPr/>
        </p:nvSpPr>
        <p:spPr>
          <a:xfrm>
            <a:off x="9048600" y="1166400"/>
            <a:ext cx="46800" cy="489600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rm — IRTYSH"/>
          <p:cNvSpPr txBox="1"/>
          <p:nvPr/>
        </p:nvSpPr>
        <p:spPr>
          <a:xfrm>
            <a:off x="9153000" y="1213200"/>
            <a:ext cx="2664000" cy="39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40" b="1">
                <a:solidFill>
                  <a:srgbClr val="14181C"/>
                </a:solidFill>
                <a:latin typeface="Arial"/>
              </a:rPr>
              <a:t>IRTYSH</a:t>
            </a:r>
            <a:r>
              <a:rPr sz="1040" b="0">
                <a:solidFill>
                  <a:srgbClr val="6A6550"/>
                </a:solidFill>
                <a:latin typeface="Arial"/>
              </a:rPr>
              <a:t>  ·  river</a:t>
            </a:r>
          </a:p>
          <a:p>
            <a:pPr algn="l">
              <a:lnSpc>
                <a:spcPct val="118000"/>
              </a:lnSpc>
            </a:pPr>
            <a:r>
              <a:rPr sz="1040" b="0">
                <a:solidFill>
                  <a:srgbClr val="6A6550"/>
                </a:solidFill>
                <a:latin typeface="Arial"/>
              </a:rPr>
              <a:t>4,248 km, from China. Takes the Tobol.</a:t>
            </a:r>
          </a:p>
        </p:txBody>
      </p:sp>
      <p:sp>
        <p:nvSpPr>
          <p:cNvPr id="20" name="term card — OB"/>
          <p:cNvSpPr/>
          <p:nvPr/>
        </p:nvSpPr>
        <p:spPr>
          <a:xfrm>
            <a:off x="11944800" y="1166400"/>
            <a:ext cx="2815200" cy="48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rm edge — OB"/>
          <p:cNvSpPr/>
          <p:nvPr/>
        </p:nvSpPr>
        <p:spPr>
          <a:xfrm>
            <a:off x="11944800" y="1166400"/>
            <a:ext cx="46800" cy="489600"/>
          </a:xfrm>
          <a:prstGeom prst="rect">
            <a:avLst/>
          </a:prstGeom>
          <a:solidFill>
            <a:srgbClr val="D9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rm — OB"/>
          <p:cNvSpPr txBox="1"/>
          <p:nvPr/>
        </p:nvSpPr>
        <p:spPr>
          <a:xfrm>
            <a:off x="12049200" y="1213200"/>
            <a:ext cx="2664000" cy="39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40" b="1">
                <a:solidFill>
                  <a:srgbClr val="14181C"/>
                </a:solidFill>
                <a:latin typeface="Arial"/>
              </a:rPr>
              <a:t>OB</a:t>
            </a:r>
            <a:r>
              <a:rPr sz="1040" b="0">
                <a:solidFill>
                  <a:srgbClr val="6A6550"/>
                </a:solidFill>
                <a:latin typeface="Arial"/>
              </a:rPr>
              <a:t>  ·  river</a:t>
            </a:r>
          </a:p>
          <a:p>
            <a:pPr algn="l">
              <a:lnSpc>
                <a:spcPct val="118000"/>
              </a:lnSpc>
            </a:pPr>
            <a:r>
              <a:rPr sz="1040" b="0">
                <a:solidFill>
                  <a:srgbClr val="6A6550"/>
                </a:solidFill>
                <a:latin typeface="Arial"/>
              </a:rPr>
              <a:t>3,650 km more, to the Arctic Ocean.</a:t>
            </a:r>
          </a:p>
        </p:txBody>
      </p:sp>
      <p:pic>
        <p:nvPicPr>
          <p:cNvPr id="23" name="LONG PROFILE — Tura to Kara Sea (measured)" descr="long_prof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000" y="1713600"/>
            <a:ext cx="14400000" cy="2156400"/>
          </a:xfrm>
          <a:prstGeom prst="rect">
            <a:avLst/>
          </a:prstGeom>
        </p:spPr>
      </p:pic>
      <p:sp>
        <p:nvSpPr>
          <p:cNvPr id="24" name="theory card 1"/>
          <p:cNvSpPr/>
          <p:nvPr/>
        </p:nvSpPr>
        <p:spPr>
          <a:xfrm>
            <a:off x="360000" y="3927600"/>
            <a:ext cx="4737600" cy="10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heory 1"/>
          <p:cNvSpPr txBox="1"/>
          <p:nvPr/>
        </p:nvSpPr>
        <p:spPr>
          <a:xfrm>
            <a:off x="432000" y="3970800"/>
            <a:ext cx="4593600" cy="93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14181C"/>
                </a:solidFill>
                <a:latin typeface="Arial"/>
              </a:rPr>
              <a:t>WHAT THE GRADIENT BUILDS</a:t>
            </a:r>
          </a:p>
          <a:p>
            <a:pPr algn="l">
              <a:lnSpc>
                <a:spcPct val="112000"/>
              </a:lnSpc>
            </a:pPr>
            <a:r>
              <a:rPr sz="1019" b="0">
                <a:solidFill>
                  <a:srgbClr val="14181C"/>
                </a:solidFill>
                <a:latin typeface="Arial"/>
              </a:rPr>
              <a:t>Steep upper course: vertical erosion cuts a V-shaped valley. Once the </a:t>
            </a:r>
            <a:r>
              <a:rPr sz="1019" b="1">
                <a:solidFill>
                  <a:srgbClr val="14181C"/>
                </a:solidFill>
                <a:latin typeface="Arial"/>
              </a:rPr>
              <a:t>gradient</a:t>
            </a:r>
            <a:r>
              <a:rPr sz="1019" b="0">
                <a:solidFill>
                  <a:srgbClr val="14181C"/>
                </a:solidFill>
                <a:latin typeface="Arial"/>
              </a:rPr>
              <a:t> collapses, lateral erosion takes over — the river meanders and widens a </a:t>
            </a:r>
            <a:r>
              <a:rPr sz="1019" b="1">
                <a:solidFill>
                  <a:srgbClr val="14181C"/>
                </a:solidFill>
                <a:latin typeface="Arial"/>
              </a:rPr>
              <a:t>floodplain</a:t>
            </a:r>
            <a:r>
              <a:rPr sz="1019" b="0">
                <a:solidFill>
                  <a:srgbClr val="14181C"/>
                </a:solidFill>
                <a:latin typeface="Arial"/>
              </a:rPr>
              <a:t>, then abandons it. Those are the </a:t>
            </a:r>
            <a:r>
              <a:rPr sz="1019" b="1">
                <a:solidFill>
                  <a:srgbClr val="14181C"/>
                </a:solidFill>
                <a:latin typeface="Arial"/>
              </a:rPr>
              <a:t>river terraces</a:t>
            </a:r>
            <a:r>
              <a:rPr sz="1019" b="0">
                <a:solidFill>
                  <a:srgbClr val="14181C"/>
                </a:solidFill>
                <a:latin typeface="Arial"/>
              </a:rPr>
              <a:t> Tyumen is built on.</a:t>
            </a:r>
          </a:p>
        </p:txBody>
      </p:sp>
      <p:sp>
        <p:nvSpPr>
          <p:cNvPr id="26" name="theory card 2"/>
          <p:cNvSpPr/>
          <p:nvPr/>
        </p:nvSpPr>
        <p:spPr>
          <a:xfrm>
            <a:off x="5191200" y="3927600"/>
            <a:ext cx="4737600" cy="10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heory 2"/>
          <p:cNvSpPr txBox="1"/>
          <p:nvPr/>
        </p:nvSpPr>
        <p:spPr>
          <a:xfrm>
            <a:off x="5263200" y="3970800"/>
            <a:ext cx="4593600" cy="93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dirty="0">
                <a:solidFill>
                  <a:srgbClr val="14181C"/>
                </a:solidFill>
                <a:latin typeface="Arial"/>
              </a:rPr>
              <a:t>WHY SO MUCH OF IT DROWNS</a:t>
            </a:r>
          </a:p>
          <a:p>
            <a:pPr algn="l">
              <a:lnSpc>
                <a:spcPct val="112000"/>
              </a:lnSpc>
            </a:pPr>
            <a:r>
              <a:rPr sz="1019" b="0" dirty="0">
                <a:solidFill>
                  <a:srgbClr val="14181C"/>
                </a:solidFill>
                <a:latin typeface="Arial"/>
              </a:rPr>
              <a:t>With almost no slope the channels cannot clear meltwater or rain: </a:t>
            </a:r>
            <a:r>
              <a:rPr sz="1019" b="1" dirty="0">
                <a:solidFill>
                  <a:srgbClr val="14181C"/>
                </a:solidFill>
                <a:latin typeface="Arial"/>
              </a:rPr>
              <a:t>half of all the marshland in Russia</a:t>
            </a:r>
            <a:r>
              <a:rPr sz="1019" b="0" dirty="0">
                <a:solidFill>
                  <a:srgbClr val="14181C"/>
                </a:solidFill>
                <a:latin typeface="Arial"/>
              </a:rPr>
              <a:t> is in this basin. The Ob also flows </a:t>
            </a:r>
            <a:r>
              <a:rPr sz="1019" b="1" dirty="0">
                <a:solidFill>
                  <a:srgbClr val="14181C"/>
                </a:solidFill>
                <a:latin typeface="Arial"/>
              </a:rPr>
              <a:t>north</a:t>
            </a:r>
            <a:r>
              <a:rPr sz="1019" b="0" dirty="0">
                <a:solidFill>
                  <a:srgbClr val="14181C"/>
                </a:solidFill>
                <a:latin typeface="Arial"/>
              </a:rPr>
              <a:t>, so meltwater from the thawing south meets 2 m of ice and spreads up to 50 km sideways.</a:t>
            </a:r>
          </a:p>
        </p:txBody>
      </p:sp>
      <p:sp>
        <p:nvSpPr>
          <p:cNvPr id="28" name="theory card 3"/>
          <p:cNvSpPr/>
          <p:nvPr/>
        </p:nvSpPr>
        <p:spPr>
          <a:xfrm>
            <a:off x="10022400" y="3927600"/>
            <a:ext cx="4737600" cy="10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heory 3"/>
          <p:cNvSpPr txBox="1"/>
          <p:nvPr/>
        </p:nvSpPr>
        <p:spPr>
          <a:xfrm>
            <a:off x="10094400" y="3970800"/>
            <a:ext cx="4593600" cy="93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14181C"/>
                </a:solidFill>
                <a:latin typeface="Arial"/>
              </a:rPr>
              <a:t>WHO WANTS THE WATER</a:t>
            </a:r>
          </a:p>
          <a:p>
            <a:pPr algn="l">
              <a:lnSpc>
                <a:spcPct val="112000"/>
              </a:lnSpc>
            </a:pPr>
            <a:r>
              <a:rPr sz="1019" b="0">
                <a:solidFill>
                  <a:srgbClr val="14181C"/>
                </a:solidFill>
                <a:latin typeface="Arial"/>
              </a:rPr>
              <a:t>27 million people; two-thirds of Russia’s oil and gas. Flat ground allows just </a:t>
            </a:r>
            <a:r>
              <a:rPr sz="1019" b="1">
                <a:solidFill>
                  <a:srgbClr val="14181C"/>
                </a:solidFill>
                <a:latin typeface="Arial"/>
              </a:rPr>
              <a:t>one dam on 3,650 km of Ob</a:t>
            </a:r>
            <a:r>
              <a:rPr sz="1019" b="0">
                <a:solidFill>
                  <a:srgbClr val="14181C"/>
                </a:solidFill>
                <a:latin typeface="Arial"/>
              </a:rPr>
              <a:t>. Upstream, China’s Irtysh–Karamay canal takes </a:t>
            </a:r>
            <a:r>
              <a:rPr sz="1019" b="1">
                <a:solidFill>
                  <a:srgbClr val="14181C"/>
                </a:solidFill>
                <a:latin typeface="Arial"/>
              </a:rPr>
              <a:t>2.5 km³ a year</a:t>
            </a:r>
            <a:r>
              <a:rPr sz="1019" b="0">
                <a:solidFill>
                  <a:srgbClr val="14181C"/>
                </a:solidFill>
                <a:latin typeface="Arial"/>
              </a:rPr>
              <a:t> from the longest transboundary tributary on Earth, with no treaty.</a:t>
            </a:r>
          </a:p>
        </p:txBody>
      </p:sp>
      <p:sp>
        <p:nvSpPr>
          <p:cNvPr id="30" name="tag — what happened at Tyumen"/>
          <p:cNvSpPr/>
          <p:nvPr/>
        </p:nvSpPr>
        <p:spPr>
          <a:xfrm>
            <a:off x="360000" y="4968000"/>
            <a:ext cx="2736000" cy="320400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ag text — Tyumen"/>
          <p:cNvSpPr txBox="1"/>
          <p:nvPr/>
        </p:nvSpPr>
        <p:spPr>
          <a:xfrm>
            <a:off x="453600" y="5036400"/>
            <a:ext cx="2592000" cy="21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1">
                <a:solidFill>
                  <a:srgbClr val="FFD400"/>
                </a:solidFill>
                <a:latin typeface="Arial"/>
              </a:rPr>
              <a:t>WHAT HAPPENED AT TYUMEN</a:t>
            </a:r>
          </a:p>
        </p:txBody>
      </p:sp>
      <p:sp>
        <p:nvSpPr>
          <p:cNvPr id="32" name="Tyumen intro"/>
          <p:cNvSpPr txBox="1"/>
          <p:nvPr/>
        </p:nvSpPr>
        <p:spPr>
          <a:xfrm>
            <a:off x="3204000" y="4957200"/>
            <a:ext cx="11556000" cy="1894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30" b="0" dirty="0">
                <a:solidFill>
                  <a:srgbClr val="14181C"/>
                </a:solidFill>
                <a:latin typeface="Arial"/>
              </a:rPr>
              <a:t>Rain on the headwaters in the Ural mountains. </a:t>
            </a:r>
            <a:r>
              <a:rPr lang="en-US" sz="1130" b="0" dirty="0">
                <a:solidFill>
                  <a:srgbClr val="14181C"/>
                </a:solidFill>
                <a:latin typeface="Arial"/>
              </a:rPr>
              <a:t>700km </a:t>
            </a:r>
            <a:r>
              <a:rPr sz="1130" b="0" dirty="0">
                <a:solidFill>
                  <a:srgbClr val="14181C"/>
                </a:solidFill>
                <a:latin typeface="Arial"/>
              </a:rPr>
              <a:t>downstream the Tura rose for three weeks and peaked at </a:t>
            </a:r>
            <a:r>
              <a:rPr sz="1130" b="1" dirty="0">
                <a:solidFill>
                  <a:srgbClr val="14181C"/>
                </a:solidFill>
                <a:latin typeface="Arial"/>
              </a:rPr>
              <a:t>897 cm on 2 August 2026</a:t>
            </a:r>
            <a:r>
              <a:rPr sz="1130" b="0" dirty="0">
                <a:solidFill>
                  <a:srgbClr val="14181C"/>
                </a:solidFill>
                <a:latin typeface="Arial"/>
              </a:rPr>
              <a:t> — a record summer flood.</a:t>
            </a:r>
          </a:p>
        </p:txBody>
      </p:sp>
      <p:pic>
        <p:nvPicPr>
          <p:cNvPr id="33" name="SECTION — Tyumen, the Tura" descr="section_tyum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000" y="5367600"/>
            <a:ext cx="7704000" cy="1868400"/>
          </a:xfrm>
          <a:prstGeom prst="rect">
            <a:avLst/>
          </a:prstGeom>
        </p:spPr>
      </p:pic>
      <p:pic>
        <p:nvPicPr>
          <p:cNvPr id="34" name="Sentinel-2 — 18 June 2026" descr="sq_p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8000" y="5367600"/>
            <a:ext cx="1296000" cy="1296000"/>
          </a:xfrm>
          <a:prstGeom prst="ellipse">
            <a:avLst/>
          </a:prstGeom>
        </p:spPr>
      </p:pic>
      <p:pic>
        <p:nvPicPr>
          <p:cNvPr id="35" name="Sentinel-2 — 29 July 2026" descr="sq_floo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97600" y="5367600"/>
            <a:ext cx="1296000" cy="1296000"/>
          </a:xfrm>
          <a:prstGeom prst="ellipse">
            <a:avLst/>
          </a:prstGeom>
        </p:spPr>
      </p:pic>
      <p:sp>
        <p:nvSpPr>
          <p:cNvPr id="36" name="caption — 18 June"/>
          <p:cNvSpPr txBox="1"/>
          <p:nvPr/>
        </p:nvSpPr>
        <p:spPr>
          <a:xfrm>
            <a:off x="8208000" y="6699600"/>
            <a:ext cx="1296000" cy="32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40" b="1">
                <a:solidFill>
                  <a:srgbClr val="14181C"/>
                </a:solidFill>
                <a:latin typeface="Arial"/>
              </a:rPr>
              <a:t>18 JUNE</a:t>
            </a:r>
          </a:p>
          <a:p>
            <a:pPr algn="l">
              <a:lnSpc>
                <a:spcPct val="114000"/>
              </a:lnSpc>
            </a:pPr>
            <a:r>
              <a:rPr sz="1040" b="0">
                <a:solidFill>
                  <a:srgbClr val="6A6550"/>
                </a:solidFill>
                <a:latin typeface="Arial"/>
              </a:rPr>
              <a:t>137 ha</a:t>
            </a:r>
          </a:p>
        </p:txBody>
      </p:sp>
      <p:sp>
        <p:nvSpPr>
          <p:cNvPr id="37" name="caption — 29 July"/>
          <p:cNvSpPr txBox="1"/>
          <p:nvPr/>
        </p:nvSpPr>
        <p:spPr>
          <a:xfrm>
            <a:off x="9597600" y="6699600"/>
            <a:ext cx="1296000" cy="32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40" b="1">
                <a:solidFill>
                  <a:srgbClr val="14181C"/>
                </a:solidFill>
                <a:latin typeface="Arial"/>
              </a:rPr>
              <a:t>29 JULY</a:t>
            </a:r>
          </a:p>
          <a:p>
            <a:pPr algn="l">
              <a:lnSpc>
                <a:spcPct val="114000"/>
              </a:lnSpc>
            </a:pPr>
            <a:r>
              <a:rPr sz="1040" b="0">
                <a:solidFill>
                  <a:srgbClr val="6A6550"/>
                </a:solidFill>
                <a:latin typeface="Arial"/>
              </a:rPr>
              <a:t>415 ha — tripled</a:t>
            </a:r>
          </a:p>
        </p:txBody>
      </p:sp>
      <p:sp>
        <p:nvSpPr>
          <p:cNvPr id="38" name="stat — 1 in 6"/>
          <p:cNvSpPr txBox="1"/>
          <p:nvPr/>
        </p:nvSpPr>
        <p:spPr>
          <a:xfrm>
            <a:off x="10987200" y="5349600"/>
            <a:ext cx="37728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40" b="1">
                <a:solidFill>
                  <a:srgbClr val="D92B1E"/>
                </a:solidFill>
                <a:latin typeface="Arial Black"/>
              </a:rPr>
              <a:t>1 in 6</a:t>
            </a:r>
          </a:p>
        </p:txBody>
      </p:sp>
      <p:sp>
        <p:nvSpPr>
          <p:cNvPr id="39" name="stat text — banks"/>
          <p:cNvSpPr txBox="1"/>
          <p:nvPr/>
        </p:nvSpPr>
        <p:spPr>
          <a:xfrm>
            <a:off x="10987200" y="5734800"/>
            <a:ext cx="3772800" cy="50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40" b="0">
                <a:solidFill>
                  <a:srgbClr val="14181C"/>
                </a:solidFill>
                <a:latin typeface="Arial"/>
              </a:rPr>
              <a:t>buildings flooded on the </a:t>
            </a:r>
            <a:r>
              <a:rPr sz="1040" b="1">
                <a:solidFill>
                  <a:srgbClr val="14181C"/>
                </a:solidFill>
                <a:latin typeface="Arial"/>
              </a:rPr>
              <a:t>low bank</a:t>
            </a:r>
            <a:r>
              <a:rPr sz="1040" b="0">
                <a:solidFill>
                  <a:srgbClr val="14181C"/>
                </a:solidFill>
                <a:latin typeface="Arial"/>
              </a:rPr>
              <a:t>, against </a:t>
            </a:r>
            <a:r>
              <a:rPr sz="1040" b="1">
                <a:solidFill>
                  <a:srgbClr val="14181C"/>
                </a:solidFill>
                <a:latin typeface="Arial"/>
              </a:rPr>
              <a:t>1 in 250</a:t>
            </a:r>
            <a:r>
              <a:rPr sz="1040" b="0">
                <a:solidFill>
                  <a:srgbClr val="14181C"/>
                </a:solidFill>
                <a:latin typeface="Arial"/>
              </a:rPr>
              <a:t> on the </a:t>
            </a:r>
            <a:r>
              <a:rPr sz="1040" b="1">
                <a:solidFill>
                  <a:srgbClr val="14181C"/>
                </a:solidFill>
                <a:latin typeface="Arial"/>
              </a:rPr>
              <a:t>high bank</a:t>
            </a:r>
            <a:r>
              <a:rPr sz="1040" b="0">
                <a:solidFill>
                  <a:srgbClr val="14181C"/>
                </a:solidFill>
                <a:latin typeface="Arial"/>
              </a:rPr>
              <a:t>. Nine times as many people were in the water.</a:t>
            </a:r>
          </a:p>
        </p:txBody>
      </p:sp>
      <p:pic>
        <p:nvPicPr>
          <p:cNvPr id="40" name="hazard chevron (decoration)" descr="cut_ban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7308000"/>
            <a:ext cx="15120000" cy="522000"/>
          </a:xfrm>
          <a:prstGeom prst="rect">
            <a:avLst/>
          </a:prstGeom>
        </p:spPr>
      </p:pic>
      <p:sp>
        <p:nvSpPr>
          <p:cNvPr id="41" name="cut message plate"/>
          <p:cNvSpPr/>
          <p:nvPr/>
        </p:nvSpPr>
        <p:spPr>
          <a:xfrm>
            <a:off x="5274000" y="7243200"/>
            <a:ext cx="4572000" cy="532800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HE CUT — message"/>
          <p:cNvSpPr txBox="1"/>
          <p:nvPr/>
        </p:nvSpPr>
        <p:spPr>
          <a:xfrm>
            <a:off x="5346000" y="7293600"/>
            <a:ext cx="4428000" cy="43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20" b="1">
                <a:solidFill>
                  <a:srgbClr val="FFFFFF"/>
                </a:solidFill>
                <a:latin typeface="Arial"/>
              </a:rPr>
              <a:t>Tyumen’s </a:t>
            </a:r>
            <a:r>
              <a:rPr sz="1320" b="1">
                <a:solidFill>
                  <a:srgbClr val="FFD400"/>
                </a:solidFill>
                <a:latin typeface="Arial"/>
              </a:rPr>
              <a:t>low bank</a:t>
            </a:r>
            <a:r>
              <a:rPr sz="1320" b="1">
                <a:solidFill>
                  <a:srgbClr val="FFFFFF"/>
                </a:solidFill>
                <a:latin typeface="Arial"/>
              </a:rPr>
              <a:t> sits 11 m above the river.</a:t>
            </a:r>
          </a:p>
          <a:p>
            <a:pPr algn="ctr">
              <a:lnSpc>
                <a:spcPct val="105000"/>
              </a:lnSpc>
            </a:pPr>
            <a:r>
              <a:rPr sz="1320" b="1">
                <a:solidFill>
                  <a:srgbClr val="FFFFFF"/>
                </a:solidFill>
                <a:latin typeface="Arial"/>
              </a:rPr>
              <a:t>So does Frankwell, in Shrewsbury.</a:t>
            </a:r>
          </a:p>
        </p:txBody>
      </p:sp>
      <p:sp>
        <p:nvSpPr>
          <p:cNvPr id="43" name="tag — what could happen here"/>
          <p:cNvSpPr/>
          <p:nvPr/>
        </p:nvSpPr>
        <p:spPr>
          <a:xfrm>
            <a:off x="360000" y="7916400"/>
            <a:ext cx="2588400" cy="320400"/>
          </a:xfrm>
          <a:prstGeom prst="rect">
            <a:avLst/>
          </a:prstGeom>
          <a:solidFill>
            <a:srgbClr val="D9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ag text — Britain"/>
          <p:cNvSpPr txBox="1"/>
          <p:nvPr/>
        </p:nvSpPr>
        <p:spPr>
          <a:xfrm>
            <a:off x="453600" y="7984800"/>
            <a:ext cx="2448000" cy="21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WHAT COULD HAPPEN HERE</a:t>
            </a:r>
          </a:p>
        </p:txBody>
      </p:sp>
      <p:sp>
        <p:nvSpPr>
          <p:cNvPr id="45" name="Britain intro"/>
          <p:cNvSpPr txBox="1"/>
          <p:nvPr/>
        </p:nvSpPr>
        <p:spPr>
          <a:xfrm>
            <a:off x="3056400" y="7902000"/>
            <a:ext cx="11700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30" b="0" dirty="0">
                <a:solidFill>
                  <a:srgbClr val="14181C"/>
                </a:solidFill>
                <a:latin typeface="Arial"/>
              </a:rPr>
              <a:t>The Severn at Shrewsbury </a:t>
            </a:r>
            <a:r>
              <a:rPr lang="en-GB" sz="1130" b="0" dirty="0">
                <a:solidFill>
                  <a:srgbClr val="14181C"/>
                </a:solidFill>
                <a:latin typeface="Arial"/>
              </a:rPr>
              <a:t>has the same shape </a:t>
            </a:r>
            <a:r>
              <a:rPr sz="1130" b="0" dirty="0">
                <a:solidFill>
                  <a:srgbClr val="14181C"/>
                </a:solidFill>
                <a:latin typeface="Arial"/>
              </a:rPr>
              <a:t>as the Tura at Tyumen: a medieval town on the </a:t>
            </a:r>
            <a:r>
              <a:rPr sz="1130" b="1" dirty="0">
                <a:solidFill>
                  <a:srgbClr val="14181C"/>
                </a:solidFill>
                <a:latin typeface="Arial"/>
              </a:rPr>
              <a:t>high bank</a:t>
            </a:r>
            <a:r>
              <a:rPr sz="1130" b="0" dirty="0">
                <a:solidFill>
                  <a:srgbClr val="14181C"/>
                </a:solidFill>
                <a:latin typeface="Arial"/>
              </a:rPr>
              <a:t>, </a:t>
            </a:r>
            <a:r>
              <a:rPr lang="en-GB" sz="1130" b="0" dirty="0">
                <a:solidFill>
                  <a:srgbClr val="14181C"/>
                </a:solidFill>
                <a:latin typeface="Arial"/>
              </a:rPr>
              <a:t>and</a:t>
            </a:r>
            <a:r>
              <a:rPr sz="1130" b="0" dirty="0">
                <a:solidFill>
                  <a:srgbClr val="14181C"/>
                </a:solidFill>
                <a:latin typeface="Arial"/>
              </a:rPr>
              <a:t> a district on the </a:t>
            </a:r>
            <a:r>
              <a:rPr sz="1130" b="1" dirty="0">
                <a:solidFill>
                  <a:srgbClr val="14181C"/>
                </a:solidFill>
                <a:latin typeface="Arial"/>
              </a:rPr>
              <a:t>low bank</a:t>
            </a:r>
            <a:r>
              <a:rPr sz="1130" b="0" dirty="0">
                <a:solidFill>
                  <a:srgbClr val="14181C"/>
                </a:solidFill>
                <a:latin typeface="Arial"/>
              </a:rPr>
              <a:t> that floods. </a:t>
            </a:r>
            <a:r>
              <a:rPr lang="en-GB" sz="1130" b="0" dirty="0">
                <a:solidFill>
                  <a:srgbClr val="14181C"/>
                </a:solidFill>
                <a:latin typeface="Arial"/>
              </a:rPr>
              <a:t>Same section, different country.</a:t>
            </a:r>
            <a:endParaRPr sz="1130" b="0" dirty="0">
              <a:solidFill>
                <a:srgbClr val="14181C"/>
              </a:solidFill>
              <a:latin typeface="Arial"/>
            </a:endParaRPr>
          </a:p>
        </p:txBody>
      </p:sp>
      <p:pic>
        <p:nvPicPr>
          <p:cNvPr id="46" name="SECTION — Shrewsbury, the Severn" descr="section_shrewsbur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0000" y="8334000"/>
            <a:ext cx="7704000" cy="1868400"/>
          </a:xfrm>
          <a:prstGeom prst="rect">
            <a:avLst/>
          </a:prstGeom>
        </p:spPr>
      </p:pic>
      <p:sp>
        <p:nvSpPr>
          <p:cNvPr id="47" name="stat — 6.3m to 8m"/>
          <p:cNvSpPr txBox="1"/>
          <p:nvPr/>
        </p:nvSpPr>
        <p:spPr>
          <a:xfrm>
            <a:off x="8208000" y="8316000"/>
            <a:ext cx="6552000" cy="39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120" b="1">
                <a:solidFill>
                  <a:srgbClr val="D92B1E"/>
                </a:solidFill>
                <a:latin typeface="Arial Black"/>
              </a:rPr>
              <a:t>6.3m → 8m</a:t>
            </a:r>
          </a:p>
        </p:txBody>
      </p:sp>
      <p:sp>
        <p:nvSpPr>
          <p:cNvPr id="48" name="stat text — England at risk"/>
          <p:cNvSpPr txBox="1"/>
          <p:nvPr/>
        </p:nvSpPr>
        <p:spPr>
          <a:xfrm>
            <a:off x="8208000" y="8733600"/>
            <a:ext cx="6552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40" b="0" dirty="0">
                <a:solidFill>
                  <a:srgbClr val="14181C"/>
                </a:solidFill>
                <a:latin typeface="Arial"/>
              </a:rPr>
              <a:t>English properties in areas at risk of flooding today, and by mid-century on the Environment Agency’s own projection — </a:t>
            </a:r>
            <a:r>
              <a:rPr sz="1040" b="1" dirty="0">
                <a:solidFill>
                  <a:srgbClr val="14181C"/>
                </a:solidFill>
                <a:latin typeface="Arial"/>
              </a:rPr>
              <a:t>one property in four</a:t>
            </a:r>
            <a:r>
              <a:rPr sz="1040" b="0" dirty="0">
                <a:solidFill>
                  <a:srgbClr val="14181C"/>
                </a:solidFill>
                <a:latin typeface="Arial"/>
              </a:rPr>
              <a:t>.</a:t>
            </a:r>
          </a:p>
        </p:txBody>
      </p:sp>
      <p:sp>
        <p:nvSpPr>
          <p:cNvPr id="49" name="Britain conclusion"/>
          <p:cNvSpPr txBox="1"/>
          <p:nvPr/>
        </p:nvSpPr>
        <p:spPr>
          <a:xfrm>
            <a:off x="8208000" y="9273600"/>
            <a:ext cx="6552000" cy="54091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40" b="1" dirty="0">
                <a:solidFill>
                  <a:srgbClr val="14181C"/>
                </a:solidFill>
                <a:latin typeface="Arial"/>
              </a:rPr>
              <a:t>What the two sections say.</a:t>
            </a:r>
            <a:r>
              <a:rPr sz="1040" b="0" dirty="0">
                <a:solidFill>
                  <a:srgbClr val="14181C"/>
                </a:solidFill>
                <a:latin typeface="Arial"/>
              </a:rPr>
              <a:t> Height above the river predicts flooding better than any map, and it costs nothing to measure — the elevation data </a:t>
            </a:r>
            <a:r>
              <a:rPr lang="en-US" sz="1040" b="0" dirty="0">
                <a:solidFill>
                  <a:srgbClr val="14181C"/>
                </a:solidFill>
                <a:latin typeface="Arial"/>
              </a:rPr>
              <a:t>is </a:t>
            </a:r>
            <a:r>
              <a:rPr sz="1040" b="0" dirty="0">
                <a:solidFill>
                  <a:srgbClr val="14181C"/>
                </a:solidFill>
                <a:latin typeface="Arial"/>
              </a:rPr>
              <a:t>global and open. The question is not whether a river floods, but how far above it we are building, and where the next </a:t>
            </a:r>
            <a:r>
              <a:rPr sz="1040" b="1" dirty="0">
                <a:solidFill>
                  <a:srgbClr val="14181C"/>
                </a:solidFill>
                <a:latin typeface="Arial"/>
              </a:rPr>
              <a:t>river terrace</a:t>
            </a:r>
            <a:r>
              <a:rPr sz="1040" b="0" dirty="0">
                <a:solidFill>
                  <a:srgbClr val="14181C"/>
                </a:solidFill>
                <a:latin typeface="Arial"/>
              </a:rPr>
              <a:t> up begins.</a:t>
            </a:r>
          </a:p>
        </p:txBody>
      </p:sp>
      <p:sp>
        <p:nvSpPr>
          <p:cNvPr id="50" name="footer — method and sources"/>
          <p:cNvSpPr txBox="1"/>
          <p:nvPr/>
        </p:nvSpPr>
        <p:spPr>
          <a:xfrm>
            <a:off x="360000" y="10284629"/>
            <a:ext cx="14400000" cy="3496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40" b="1" dirty="0">
                <a:solidFill>
                  <a:srgbClr val="14181C"/>
                </a:solidFill>
                <a:latin typeface="Arial"/>
              </a:rPr>
              <a:t>Method.</a:t>
            </a:r>
            <a:r>
              <a:rPr sz="1040" b="0" dirty="0">
                <a:solidFill>
                  <a:srgbClr val="6A6550"/>
                </a:solidFill>
                <a:latin typeface="Arial"/>
              </a:rPr>
              <a:t> Copernicus DEM GLO-30 elevations; flood extent from Sentinel-2 L2A using MNDWI (Xu 2006</a:t>
            </a:r>
            <a:r>
              <a:rPr lang="en-GB" sz="1040" b="0" dirty="0">
                <a:solidFill>
                  <a:srgbClr val="6A6550"/>
                </a:solidFill>
                <a:latin typeface="Arial"/>
              </a:rPr>
              <a:t>)</a:t>
            </a:r>
            <a:r>
              <a:rPr sz="1040" b="0" dirty="0">
                <a:solidFill>
                  <a:srgbClr val="6A6550"/>
                </a:solidFill>
                <a:latin typeface="Arial"/>
              </a:rPr>
              <a:t>. Imagery and elevation data © European Union / ESA, free and open </a:t>
            </a:r>
            <a:r>
              <a:rPr sz="1040" b="0" dirty="0" err="1">
                <a:solidFill>
                  <a:srgbClr val="6A6550"/>
                </a:solidFill>
                <a:latin typeface="Arial"/>
              </a:rPr>
              <a:t>licence</a:t>
            </a:r>
            <a:r>
              <a:rPr sz="1040" b="0" dirty="0">
                <a:solidFill>
                  <a:srgbClr val="6A6550"/>
                </a:solidFill>
                <a:latin typeface="Arial"/>
              </a:rPr>
              <a:t>; every map and section here is my work from them.</a:t>
            </a:r>
            <a:endParaRPr lang="en-US" sz="1040" b="0" dirty="0">
              <a:solidFill>
                <a:srgbClr val="6A6550"/>
              </a:solidFill>
              <a:latin typeface="Arial"/>
            </a:endParaRPr>
          </a:p>
          <a:p>
            <a:pPr algn="l">
              <a:lnSpc>
                <a:spcPct val="114000"/>
              </a:lnSpc>
            </a:pPr>
            <a:r>
              <a:rPr sz="1040" b="0" dirty="0">
                <a:solidFill>
                  <a:srgbClr val="6A6550"/>
                </a:solidFill>
                <a:latin typeface="Arial"/>
              </a:rPr>
              <a:t> </a:t>
            </a:r>
            <a:r>
              <a:rPr sz="1040" b="1" dirty="0">
                <a:solidFill>
                  <a:srgbClr val="14181C"/>
                </a:solidFill>
                <a:latin typeface="Arial"/>
              </a:rPr>
              <a:t>Sources:</a:t>
            </a:r>
            <a:r>
              <a:rPr sz="1040" b="0" dirty="0">
                <a:solidFill>
                  <a:srgbClr val="6A6550"/>
                </a:solidFill>
                <a:latin typeface="Arial"/>
              </a:rPr>
              <a:t> Britannica; WWF/TNC Freshwater Ecoregions of the World; Eurasian Development Bank 2025; Environment Agency </a:t>
            </a:r>
            <a:r>
              <a:rPr sz="1040" b="0" dirty="0" err="1">
                <a:solidFill>
                  <a:srgbClr val="6A6550"/>
                </a:solidFill>
                <a:latin typeface="Arial"/>
              </a:rPr>
              <a:t>NaFRA</a:t>
            </a:r>
            <a:r>
              <a:rPr sz="1040" b="0" dirty="0">
                <a:solidFill>
                  <a:srgbClr val="6A6550"/>
                </a:solidFill>
                <a:latin typeface="Arial"/>
              </a:rPr>
              <a:t> 2024.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581</Words>
  <Application>Microsoft Macintosh PowerPoint</Application>
  <PresentationFormat>Custom</PresentationFormat>
  <Paragraphs>39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Arial Black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Ostriagin, Aleksandr</cp:lastModifiedBy>
  <cp:revision>2</cp:revision>
  <dcterms:created xsi:type="dcterms:W3CDTF">2013-01-27T09:14:16Z</dcterms:created>
  <dcterms:modified xsi:type="dcterms:W3CDTF">2026-09-29T14:37:32Z</dcterms:modified>
  <cp:category/>
</cp:coreProperties>
</file>